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4" r:id="rId4"/>
    <p:sldId id="258" r:id="rId5"/>
    <p:sldId id="262" r:id="rId6"/>
    <p:sldId id="260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53" y="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5256F-811F-F224-5651-1949F537C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676E8-D5CF-3763-B8F5-D34F3EE10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8AEE4-1330-B7C3-6BB9-3902AD080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5B2E-EEF9-4BFE-B593-92B5B4220717}" type="datetimeFigureOut">
              <a:rPr lang="en-CA" smtClean="0"/>
              <a:t>2025-09-27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310C0-5D6C-7727-C483-7AC39BF0F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6D2BF-0992-642A-CE1A-7B47248B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28C3C-1A8F-47B2-9D3C-12F767FFE5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8701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E41DD-74C5-D38B-B7B7-6F0A3D915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50414-42C4-AA75-0858-F8838D915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E094C-143E-7903-BBB4-A3D7246C1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5B2E-EEF9-4BFE-B593-92B5B4220717}" type="datetimeFigureOut">
              <a:rPr lang="en-CA" smtClean="0"/>
              <a:t>2025-09-27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2E6B0-AB6F-470F-2EAF-2B59DB22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4773D-BA35-85A4-C4BE-0A03E769A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28C3C-1A8F-47B2-9D3C-12F767FFE5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782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BDD23-66D5-5404-26C1-01D336923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E092A-A11E-D766-4ECD-0DEF3DD9B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5096D-E0DB-56F0-2785-6812108C7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5B2E-EEF9-4BFE-B593-92B5B4220717}" type="datetimeFigureOut">
              <a:rPr lang="en-CA" smtClean="0"/>
              <a:t>2025-09-27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00222-707B-3652-B3B4-A005EE224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841AE-2E9A-07CB-8DCB-49AC33821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28C3C-1A8F-47B2-9D3C-12F767FFE5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831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7CCE-2CAA-1003-DC7C-A90C6C974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2294C-C53F-97B1-5D66-DEE53BB7B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B06CC-6051-3674-F01D-3AF09F837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57D7D-2305-E7AC-7913-F6E6B7D2D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5B2E-EEF9-4BFE-B593-92B5B4220717}" type="datetimeFigureOut">
              <a:rPr lang="en-CA" smtClean="0"/>
              <a:t>2025-09-27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70988-B5B2-41C8-7DD3-1A4AEC81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82E11-5F49-0CBD-5305-F340770AF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28C3C-1A8F-47B2-9D3C-12F767FFE5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7267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334E-F54F-592F-5707-0D24FB33D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5139F-6FD8-0B1E-9024-F5AE1E5CE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3D834-57EF-ADF3-EAA4-0BB0F6D2B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CDF44A-F304-7F34-0A46-9B5750C7E9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52323-C461-ECE7-8C12-9662C31EDF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5400D8-4146-B56C-B6C5-DDABCD76A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5B2E-EEF9-4BFE-B593-92B5B4220717}" type="datetimeFigureOut">
              <a:rPr lang="en-CA" smtClean="0"/>
              <a:t>2025-09-27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2F8F9D-080D-8440-EB3A-EC8E7C6B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94AC9-416F-A0EB-A5BC-80A563487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28C3C-1A8F-47B2-9D3C-12F767FFE5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3847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D079-17B7-4FEB-1CBD-EB22032A0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CA899-17BB-AE03-8F62-A7F102E52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5B2E-EEF9-4BFE-B593-92B5B4220717}" type="datetimeFigureOut">
              <a:rPr lang="en-CA" smtClean="0"/>
              <a:t>2025-09-27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9118D3-4D68-8437-85EE-66343CDEF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63F62-5589-7A19-8732-E5CC789F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28C3C-1A8F-47B2-9D3C-12F767FFE5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1332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7522FF-342D-2C34-D319-52E7E7958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5B2E-EEF9-4BFE-B593-92B5B4220717}" type="datetimeFigureOut">
              <a:rPr lang="en-CA" smtClean="0"/>
              <a:t>2025-09-27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F63968-8581-2480-5FA1-69344F32E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89A93-8F4E-C4AC-A58A-3F224F76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28C3C-1A8F-47B2-9D3C-12F767FFE5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051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979AB-6202-CE62-B6D3-8E0396CD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98618-AD87-0468-F0CF-AA5B4D441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E4A089-794C-75EC-8336-CE62980E8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62D94-467F-34E6-AC36-60DC996AA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5B2E-EEF9-4BFE-B593-92B5B4220717}" type="datetimeFigureOut">
              <a:rPr lang="en-CA" smtClean="0"/>
              <a:t>2025-09-27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EC955-711F-D522-52C1-F54919E90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2A9EC-7C05-18A8-FEE0-905D4B2BD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28C3C-1A8F-47B2-9D3C-12F767FFE5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2371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E3867-1707-D920-B6FF-833C4397F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7A7411-80CB-DA27-41D5-453CEF5C72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80AAFD-BE78-262C-1CF4-FD89EDF74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43F60-F728-0B7C-3EAE-97EB89724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5B2E-EEF9-4BFE-B593-92B5B4220717}" type="datetimeFigureOut">
              <a:rPr lang="en-CA" smtClean="0"/>
              <a:t>2025-09-27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F6450-7295-EB00-F9C3-E92BC3B27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13DAC-F6EB-A8F4-8283-DA78936F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28C3C-1A8F-47B2-9D3C-12F767FFE5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2892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EA58-C731-FF16-997F-0FBDC9F7B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AAA2F-0110-E152-203C-2FA239A16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07875-7930-6EFC-5D51-D2395221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5B2E-EEF9-4BFE-B593-92B5B4220717}" type="datetimeFigureOut">
              <a:rPr lang="en-CA" smtClean="0"/>
              <a:t>2025-09-27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D9B7E-F950-A90A-37ED-2A20E327D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3C8A0-95E3-BA17-D557-EF364000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28C3C-1A8F-47B2-9D3C-12F767FFE5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3663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883C30-73E0-BD8B-907D-ADD45A240C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624BB-4B30-87E0-B918-0BB750C33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08B9C-248F-DA11-17A1-C3E8A2068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5B2E-EEF9-4BFE-B593-92B5B4220717}" type="datetimeFigureOut">
              <a:rPr lang="en-CA" smtClean="0"/>
              <a:t>2025-09-27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2E796-79FA-1DF7-5AC6-03172FAE7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9199E-5520-4449-7DBC-600053D08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28C3C-1A8F-47B2-9D3C-12F767FFE5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8541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308857-6F0B-5325-ABF0-FE5610BC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3EE7B-91F7-8F60-B96A-753DE2F06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BC451-3B22-F4F4-49E3-155F38C315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85B2E-EEF9-4BFE-B593-92B5B4220717}" type="datetimeFigureOut">
              <a:rPr lang="en-CA" smtClean="0"/>
              <a:t>2025-09-27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B22BF-4C3A-A6F6-B643-E12774E96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998F1-B74B-BB4B-8D70-EAEB425D4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C28C3C-1A8F-47B2-9D3C-12F767FFE5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5551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CB9C-A61B-E8DC-ED2C-ACA58FDF40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High-Speed Wireline Link Optimization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488B9-E7CC-7560-CB64-C644DED95D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Extension of </a:t>
            </a:r>
            <a:r>
              <a:rPr lang="en-US" b="1" dirty="0" err="1"/>
              <a:t>Junbo’s</a:t>
            </a:r>
            <a:r>
              <a:rPr lang="en-US" b="1" dirty="0"/>
              <a:t> MATLAB Model to Simultaneous Bidirectional Signaling for Die-to-Die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71039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FBD1B-7DAE-FA85-91A9-EDEC08237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Current block diagram</a:t>
            </a:r>
          </a:p>
        </p:txBody>
      </p:sp>
      <p:pic>
        <p:nvPicPr>
          <p:cNvPr id="1026" name="Picture 2" descr="A diagram of a system&#10;&#10;AI-generated content may be incorrect.">
            <a:extLst>
              <a:ext uri="{FF2B5EF4-FFF2-40B4-BE49-F238E27FC236}">
                <a16:creationId xmlns:a16="http://schemas.microsoft.com/office/drawing/2014/main" id="{D3B46745-6AFD-6270-B3C0-43BB319DF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779608"/>
            <a:ext cx="10905066" cy="3298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5A1C22-847A-0B5F-CB0A-4DC070556AA1}"/>
              </a:ext>
            </a:extLst>
          </p:cNvPr>
          <p:cNvSpPr txBox="1"/>
          <p:nvPr/>
        </p:nvSpPr>
        <p:spPr>
          <a:xfrm>
            <a:off x="3163330" y="5189838"/>
            <a:ext cx="58880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Key changes required: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Remove clock recovery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2"/>
                </a:solidFill>
              </a:rPr>
              <a:t>Enable Tx and Rx on both sides of channel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5"/>
                </a:solidFill>
              </a:rPr>
              <a:t>Enable hybrid circuit for near-end echo cancellation</a:t>
            </a:r>
          </a:p>
        </p:txBody>
      </p:sp>
    </p:spTree>
    <p:extLst>
      <p:ext uri="{BB962C8B-B14F-4D97-AF65-F5344CB8AC3E}">
        <p14:creationId xmlns:p14="http://schemas.microsoft.com/office/powerpoint/2010/main" val="1290257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B417-EA17-5759-322A-783EE513B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Hybrid circuit for near-end echo cancellation</a:t>
            </a:r>
          </a:p>
        </p:txBody>
      </p:sp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33CB30FD-6C5E-DD28-FEA7-0EB74B043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3" t="24652" r="19462" b="12832"/>
          <a:stretch>
            <a:fillRect/>
          </a:stretch>
        </p:blipFill>
        <p:spPr>
          <a:xfrm>
            <a:off x="3421625" y="1877502"/>
            <a:ext cx="5348749" cy="42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98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6A0F7-D160-8769-FE4C-62149BC2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Proposed block diagram</a:t>
            </a:r>
          </a:p>
        </p:txBody>
      </p:sp>
      <p:pic>
        <p:nvPicPr>
          <p:cNvPr id="7" name="Picture 6" descr="A diagram of a circuit&#10;&#10;AI-generated content may be incorrect.">
            <a:extLst>
              <a:ext uri="{FF2B5EF4-FFF2-40B4-BE49-F238E27FC236}">
                <a16:creationId xmlns:a16="http://schemas.microsoft.com/office/drawing/2014/main" id="{B9DDB10D-0C69-2DDE-C4FF-44D841622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33" b="17407"/>
          <a:stretch>
            <a:fillRect/>
          </a:stretch>
        </p:blipFill>
        <p:spPr>
          <a:xfrm>
            <a:off x="616446" y="1690688"/>
            <a:ext cx="10959108" cy="44597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BD2F2C-E0E6-BEB2-56EB-3FC7A1F52A92}"/>
              </a:ext>
            </a:extLst>
          </p:cNvPr>
          <p:cNvSpPr txBox="1"/>
          <p:nvPr/>
        </p:nvSpPr>
        <p:spPr>
          <a:xfrm>
            <a:off x="6598946" y="566241"/>
            <a:ext cx="48752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2"/>
                </a:solidFill>
              </a:rPr>
              <a:t>Added Tx and Rx on both sides of channel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5"/>
                </a:solidFill>
              </a:rPr>
              <a:t>Added hybrid circuit for near-end echo cancellation</a:t>
            </a:r>
          </a:p>
        </p:txBody>
      </p:sp>
    </p:spTree>
    <p:extLst>
      <p:ext uri="{BB962C8B-B14F-4D97-AF65-F5344CB8AC3E}">
        <p14:creationId xmlns:p14="http://schemas.microsoft.com/office/powerpoint/2010/main" val="2952541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FFE0C-75B4-609C-6168-9DBCD5DF2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Current Code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C8270-107D-6677-A46B-A496FB5A6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4087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>
            <a:extLst>
              <a:ext uri="{FF2B5EF4-FFF2-40B4-BE49-F238E27FC236}">
                <a16:creationId xmlns:a16="http://schemas.microsoft.com/office/drawing/2014/main" id="{D43919CE-0D63-2CFC-2055-E94C0F0A5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050" y="0"/>
            <a:ext cx="19923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019562-4E96-BFDD-699A-D3936F0C2B3D}"/>
              </a:ext>
            </a:extLst>
          </p:cNvPr>
          <p:cNvSpPr txBox="1"/>
          <p:nvPr/>
        </p:nvSpPr>
        <p:spPr>
          <a:xfrm>
            <a:off x="840259" y="902043"/>
            <a:ext cx="13909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Transmitter</a:t>
            </a:r>
          </a:p>
          <a:p>
            <a:r>
              <a:rPr lang="en-CA" b="1" dirty="0">
                <a:solidFill>
                  <a:schemeClr val="accent6"/>
                </a:solidFill>
              </a:rPr>
              <a:t>Channel</a:t>
            </a:r>
          </a:p>
          <a:p>
            <a:r>
              <a:rPr lang="en-CA" b="1" dirty="0">
                <a:solidFill>
                  <a:srgbClr val="C00000"/>
                </a:solidFill>
              </a:rPr>
              <a:t>Receiver</a:t>
            </a:r>
          </a:p>
        </p:txBody>
      </p:sp>
    </p:spTree>
    <p:extLst>
      <p:ext uri="{BB962C8B-B14F-4D97-AF65-F5344CB8AC3E}">
        <p14:creationId xmlns:p14="http://schemas.microsoft.com/office/powerpoint/2010/main" val="751565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DDC9E-283D-9F4F-46B6-7A61F0B9F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Proposed Code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6F2D-2944-B973-38AA-09110731B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3044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ACBD11-5E80-3CF6-0A1C-F1B1193E6A99}"/>
              </a:ext>
            </a:extLst>
          </p:cNvPr>
          <p:cNvSpPr txBox="1"/>
          <p:nvPr/>
        </p:nvSpPr>
        <p:spPr>
          <a:xfrm>
            <a:off x="840259" y="902043"/>
            <a:ext cx="13909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Transmitter</a:t>
            </a:r>
          </a:p>
          <a:p>
            <a:r>
              <a:rPr lang="en-CA" b="1" dirty="0">
                <a:solidFill>
                  <a:schemeClr val="accent6"/>
                </a:solidFill>
              </a:rPr>
              <a:t>Channel</a:t>
            </a:r>
          </a:p>
          <a:p>
            <a:r>
              <a:rPr lang="en-CA" b="1" dirty="0">
                <a:solidFill>
                  <a:srgbClr val="C00000"/>
                </a:solidFill>
              </a:rPr>
              <a:t>Receiver</a:t>
            </a:r>
          </a:p>
          <a:p>
            <a:r>
              <a:rPr lang="en-CA" b="1" dirty="0">
                <a:solidFill>
                  <a:srgbClr val="FFC000"/>
                </a:solidFill>
              </a:rPr>
              <a:t>Hybrid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7C25AE-8292-1704-0A62-9A34EC28EE6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288931" y="4586587"/>
            <a:ext cx="1873504" cy="6156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89D904-B384-840F-7451-8D91F1A9CE1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052203" y="5797849"/>
            <a:ext cx="2346960" cy="5791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D87EFA-2428-2D9A-1FC7-9A11742658E1}"/>
              </a:ext>
            </a:extLst>
          </p:cNvPr>
          <p:cNvSpPr txBox="1"/>
          <p:nvPr/>
        </p:nvSpPr>
        <p:spPr>
          <a:xfrm>
            <a:off x="9173953" y="4237386"/>
            <a:ext cx="2103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/>
              <a:t>ApplyHybridDivider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81865-1702-DB04-B584-98897A15E329}"/>
              </a:ext>
            </a:extLst>
          </p:cNvPr>
          <p:cNvSpPr txBox="1"/>
          <p:nvPr/>
        </p:nvSpPr>
        <p:spPr>
          <a:xfrm>
            <a:off x="9700539" y="5435444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/>
              <a:t>ApplyTIA</a:t>
            </a:r>
            <a:endParaRPr lang="en-C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EB6B47-9FA8-FA70-987A-378F469EA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987" y="0"/>
            <a:ext cx="5689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B16FCB-183F-07F5-9795-F0639389C3D4}"/>
              </a:ext>
            </a:extLst>
          </p:cNvPr>
          <p:cNvSpPr txBox="1"/>
          <p:nvPr/>
        </p:nvSpPr>
        <p:spPr>
          <a:xfrm>
            <a:off x="7580671" y="403123"/>
            <a:ext cx="4460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/>
              <a:t>GenerateReplicaInput</a:t>
            </a:r>
            <a:r>
              <a:rPr lang="en-CA" dirty="0"/>
              <a:t> = </a:t>
            </a:r>
            <a:r>
              <a:rPr lang="en-CA" dirty="0" err="1"/>
              <a:t>GenerateInput</a:t>
            </a:r>
            <a:endParaRPr lang="en-CA" dirty="0"/>
          </a:p>
          <a:p>
            <a:r>
              <a:rPr lang="en-CA" dirty="0" err="1"/>
              <a:t>ApplyReplicaDriverFilter</a:t>
            </a:r>
            <a:r>
              <a:rPr lang="en-CA" dirty="0"/>
              <a:t> = </a:t>
            </a:r>
            <a:r>
              <a:rPr lang="en-CA" dirty="0" err="1"/>
              <a:t>ApplyDriverFilter</a:t>
            </a:r>
            <a:endParaRPr lang="en-CA" dirty="0"/>
          </a:p>
        </p:txBody>
      </p:sp>
      <p:pic>
        <p:nvPicPr>
          <p:cNvPr id="9" name="Picture 8" descr="A diagram of a circuit&#10;&#10;AI-generated content may be incorrect.">
            <a:extLst>
              <a:ext uri="{FF2B5EF4-FFF2-40B4-BE49-F238E27FC236}">
                <a16:creationId xmlns:a16="http://schemas.microsoft.com/office/drawing/2014/main" id="{14803B37-3A9D-736A-38A1-AA165ECFA6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3" t="24652" r="19462" b="12832"/>
          <a:stretch>
            <a:fillRect/>
          </a:stretch>
        </p:blipFill>
        <p:spPr>
          <a:xfrm>
            <a:off x="8355022" y="1282615"/>
            <a:ext cx="3483016" cy="279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51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B4576AA-7202-46D9-AA09-903F0E78B4CA}">
  <we:reference id="4b785c87-866c-4bad-85d8-5d1ae467ac9a" version="3.19.0.0" store="EXCatalog" storeType="EXCatalog"/>
  <we:alternateReferences>
    <we:reference id="WA104381909" version="3.19.0.0" store="en-US" storeType="OMEX"/>
  </we:alternateReferences>
  <we:properties>
    <we:property name="EQUATION_HISTORY" value="&quot;[{\&quot;mathml\&quot;:\&quot;&lt;math xmlns=\\\&quot;http://www.w3.org/1998/Math/MathML\\\&quot; style=\\\&quot;font-family:stix;font-size:16px;\\\&quot;&gt;&lt;msub&gt;&lt;mi&gt;V&lt;/mi&gt;&lt;mrow&gt;&lt;mi&gt;p&lt;/mi&gt;&lt;mi&gt;a&lt;/mi&gt;&lt;mi&gt;d&lt;/mi&gt;&lt;/mrow&gt;&lt;/msub&gt;&lt;mo&gt;=&lt;/mo&gt;&lt;mfrac&gt;&lt;msub&gt;&lt;mi&gt;Z&lt;/mi&gt;&lt;mn&gt;0&lt;/mn&gt;&lt;/msub&gt;&lt;mrow&gt;&lt;msub&gt;&lt;mi&gt;Z&lt;/mi&gt;&lt;mn&gt;0&lt;/mn&gt;&lt;/msub&gt;&lt;mo&gt;+&lt;/mo&gt;&lt;msub&gt;&lt;mi&gt;R&lt;/mi&gt;&lt;mrow&gt;&lt;mi&gt;S&lt;/mi&gt;&lt;mi&gt;S&lt;/mi&gt;&lt;mi&gt;T&lt;/mi&gt;&lt;/mrow&gt;&lt;/msub&gt;&lt;/mrow&gt;&lt;/mfrac&gt;&lt;msub&gt;&lt;mi&gt;V&lt;/mi&gt;&lt;mrow&gt;&lt;mi&gt;d&lt;/mi&gt;&lt;mi&gt;r&lt;/mi&gt;&lt;mi&gt;v&lt;/mi&gt;&lt;/mrow&gt;&lt;/msub&gt;&lt;/math&gt;\&quot;,\&quot;base64Image\&quot;:\&quot;iVBORw0KGgoAAAANSUhEUgAAA5oAAAEvCAYAAAAkbb5kAAAACXBIWXMAAA7EAAAOxAGVKw4bAAAABGJhU0UAAACtaENNywAALmdJREFUeNrt3Q/kVtf/APDjI0kykkmSSCbJjMxkMpFMMhmTTL5mzGSSGZlJkjEzyUxMkiSRZJLEJJOZMZMkGZkkk8jMJIn97vk99/Pd5/t0733OfZ77/H+9OL7f1ec553zOObfnvO8995wQAICmrcrSP2OejulGAACA0bF3AgLNQ7oRAABgdFwZ8yDzpyzN040AAACjYVGWno1xkHk/S0t1IwAAwOjYkRjQ3c7S6Sx9nKW3s7QlS8uztCBLMw3WZ3WWHiXW6UmWXtOFAAAAo+VMRSB3K0t7srRsQHVZlAe0qU8zd+k+AACA0RKfRP5VEMD9kaWdQ6jPxRpB5hHdBwAAMHo2FQRwcWOgF4dQlwM1gszvdR0AAMBoOtwWwJ0Pzb5vmWp7jSDz9ywt0XUAAACjae77kL+E1sY+g7YmFC/fLUrx59bqNgAAgNG0Jvzv7q2rh1CHxVm6E9KfZm7TbQAAAKPr4zkB3IEh1eFSjSBzvy4DAAAYbVfzAO5eGM6S2S9qBJnndRcAAMBoeyFLz/Ig7oMhlP9OjSDzZmidrwkAAMAImw30bg2h7HVZepwYZD7M0krdBQAAMB5eCoPfwTWez3k3MciMT1w36SYAAACqXAnpS2b3aC4AAACqHKkRZJ7QXAAAAFR5t0aQ+VOW5mkyAAAAyrwa0jf/uZ+lpZoMAACAMnHzn3uJQeaTLL2myQAAACgzk6VrIX3J7C5NBgAAQJWjNYLMI5oLAACAKu/VCDK/11wAAABU2ZClp4lB5u9ZWqLJAAAAKBN3jP0jMcj8K0trNRkAAABl5ofWGZipS2a3aTIAAACqnKgRZO7XXAAAAFTZXSPIPK+5AAAAqLIxS88Sg8wbWVqkyQAAACizPEsPEoPMh1laqckAAAAosyBLvyQGmfGJ5yZNBgAAQJVTIf29zD2aCwAAgCp7awSZJzQXAAAAVTbVCDLjuZrzNBkAAABl4mY+DxODzPtZWqrJAAAAKLMwS9cTg8wnWVqvyQAAAKhyNqQvmd2luQAAAKiyr0aQeVhzAQAAUOXNGkHm95oLAACAKquz9CgxyLyTpSWaDAAAgDKLsnQrMcj8K0trNRkAAABVvgvpS2a3aS4AAACqHKgRZO7XXAAAAFTZViPIPKe5AAAAqLImtN63TAkyb4TWe5wAAABQaHGWfksMMh9maYUmAwAAoMqlxCDzWZY2DamO67P0UpZmdBcAAMBoOxTS38v8aEh1jE9cZ8/0XK7LAAAARtc7NYLME0Os5xd5HX7SZQAAAKNrXUjf/CcGePOGVM9VWXqa12OfbgMAABhNcSnq3cQg836Wlg6xrpfn1GWNrgMAABhNVxKDzCehtQnPsOyaU5fbug0AAGA0HQ7p72XuGmI94xEqf86pyyFdBwAAMHrerRFkfjXEei7I0i9t9XlN9wEAAIyWV7L0ODHI/H7IdT0fnn9PFAAAgBHyYpbuJQaZd0Jrs6BhOV1Qp6+HVJe40+72LB3P0rXQ2qU3vrf6NP//MSD/MkuvG2IAAMA0mcnS1cQgMwZPa4dUzyV54FZUr80DrssLWfo8/O87op3S9SxtM9wAAIBpcLRGsDSsQCm+O/pHSZ3+zIPlQXmroC5x6e4nWdqQpUWhdcxKrPO1gvqeyQNVAACAifSfGkHm/gHXbVmWPsrSzQ71OjnAOn1WUP65PLgsE3fmfdL2mZv57wcAADBRXg2tdwlTgsxzfSh/fpYW5vV4M0tvZ+njLJ0KrTMxUwPg7QNqr0MFZX+X+NktBZ/9LbTejQUAAJgIMcD5o0YwN6opBsrzBtBeuwvKvhvqLYHdX5BHXFo7YzgCAADjLgZmP05AkBnT2QG01+slZe+smU8MKH8ryOdLQxIAABh3ByckyIzp3T63VVzae6eg3Ntd5vd+ye/ximEJAACMs2MTEmQ+C/3fvfVASdl7uswvPk1+WJDfL4YlAADA5IvvsT4pCXCX9JDv12G4mxoBAAAwJIdKAsKrPea7qSTfXzU5AADA5Iob9zwoCQg/bSDvsmNlXtX0AAAAk2lbKH83dHMD+V8uyfuYpgcAAJhMx0P5BkRNnNv5ZUn+j4JzNQEAACbSvZJA8FZD+e8I5U9M39D8AAAAk2V5RRB4pqEyNlSUcVAXAAAATJZ3KoLAbxoqY35FGZd1AQAAwGT5oiII3NVgOY9LynisCwAAACbL+YpAc3uD5dyoKGeZbgAAAJgcv1YEgFsaLOdCRTlbdQMAAMDkeFwRAL7cYDlnK8rZqRsAAAAmw0xF8BfTwgbLOllRzgFdAQAAMBkWdgg05zdY1rGKco7pCgAAgMmwrEOg2aSjFeWc0hUAAACT4Y0BBprfVJRzRlcAAABMhs0DDDS/EGgCAABMvk0DDDR3CzQBAAAm38oBBpqHBZoAAACTb1EYjXc0bQYEAAAwIeZ1CDTnNVjWt8HxJgAAAFPhaUUAuKDBco5XlHNANwAAAEyOexUB4IoGyzlVUc5O3QAAADA5LlQEgJsaLOd8RTlbdQMAAMDkOFkRAG5rsJxLFeUs1Q0AAACT4/0wmCWtj0rKeKwLAAAAJsvGikDzUENlzGTpWUkZl3QBAADAZIlBYNnOsycbKmNVRTB7UBcAAABMnqslQeCPDeW/PQxmwyEAAABGxCclQeCTPuf/d2g9UQUAAGDCrA7lTxxfbiD/c6G/S3MBAAAYQT+XBIMfNJD3nyV5b9HsAAAAk2t3STB4psd815fke0+TAwAATLaFWforFL+nOa+HfA+VBJr7NDkAAMDkKwsKd/WQ592C/OJS2hc0NwAAwORbnKVHBYHhT13mV3asiaeZAAAAU+S9kuBwcxd53SjI52ZwpAkAAMDUOV0QIN7K0oIaeewJxedmrtO8AAAA0ycGlFdD9zvQbsjS47bPPguOMwEAAJj6YPNiQbB5NkuLKj73Vnh+99r4329qUgAAAKJPs/S0LXD8I//zN/Kgc1WW3s7S5YLA9NcsvaQZAQAAmGt1lk6F1vLXfxLTnSy9r+kAAACosiQPHuNmQXFH2bi5z5M8xWNR4lLbL7O0UVMBTK54uPI/fUzHGqzr+YbqdFG3AwBgjm6OTv+8ng+O+w0P3rtZ+i40uxxmb5Yuhdad0W7r9XOWPtHtAACYo5ujMxjx3YpvuxwcT/LPbsvS/AHUdU2WDoTWEpyU+v2SpbW6GAAAc3RzdIbj85oD+F5+AQzDstDa1a6qfldCvcOjAQDAHN0cnYbNhNZj9dRBvHPI9f0mVC8PWKxLAQAwRzdHZ/j21xjE84dc168r6rZJVwIAYI5ujs5oWFNjEA/bxZJ6ndaNAACYo5ujM1oejMEgjuu6nxbU6c8sLdWFAACYo5ujM1rOJg7iZUOs43sldfpI9wEAYI5ujs7o+ThxEG8dYh1/KajPdV0HAIA5ujk6o2lr4iD+z5Dq91pJfV7VdQAAmKObozOaFiYO4mNDqt+FEaoLAACYo5ujk+jPhEF8fgj1ermgHo+ytESXAQBgjm6Ozmi7mDCI7w6hXpcK6vGh7gIAwBzdHJ3R923CIH6WpZkB1mljQR1+1lUAAJijm6MzHnaFtDXgawZYp+sFF9FaXQUAgDm6OTrjIXVXq+0Dqs8HBWUf0U0AAJijm6MzPuYnDuI9A6jL4iw9bCv3jyy9oJsAADBHN0dnvPyVMIhPDqAeXxWUu1P3AABgjm6OzvhJ2dXqQp/rENeXP2sr84quAQDAHN0cnfF0ImEQP+pzHa6E518uXqNrAAAwRzdHZzy9F9LWgPdr++S3Cso6pFsAADBHN0dnfKXuavVKH8qOLzrfaSvn9ywt0C0AAJijm6MzvhaH4W2ffKCgnLd0CQAA5ujm6Iy/xwmDeF/DZS7P0t9tZVzUFQAAYI7OZPg+DH775NNt+T/J0ipdAQAA5uhMhpMJg/j7Bst7vSD//bqBAdoc0pajTEI6r7sBwBzdHJ1h+ChhEP/VYHk32vK+naV5ugGBpkATADBHZ3Kk7mo1v4GyPizId7MuQKAp0AQAzNGZLEsTB/EbPZYTd8962JbnWc2PQFOgCQCYozOZniQM4h09lnG4Lb+4o9VyTY9AU6AJAJijM5muJQziz3vIf22WnoX+bscMAk2BJgCYo5ujM0JOJQziMz3kf7Utr1tZmtHsCDQFmgCAOTqTa2/CIP65y7zfLshroyaHifOPJEmSJE1wMkeHLmxPGMRPusg37oL1e1s+JzQ3CDQlSZIkSaBpjs7kW5l4gS2ume+Bts//maUXNTcINCVJkiRJoGmOznRI2dXqzRr5rcjS47bPf6SZQaApSZIkSQJNc3Smxy8Jg3hnjfzOtH32uiYGgaYkSZIkCTTN0ZkuZxIG8eHEvDYWfPYVTQwCTUmSJEkSaJqjM132JQzi1O2Tb7Z97lvNCwAA5uhMn5RdrW4k5PNR22ceZGmJ5gUAAHN0ps9LCYO40/bJccerR22f2aVpAQDAHJ3pNJOlZwkDeVlFHt+0/ew1zQoAAOboTLfrCYN4a8ln17X9XLwg1mpSAAAwR2e6pexqVfaY/Ye2n/tKcwIAgDk6HEwYxMcKPrez7WfuZ2mR5gQAAHN0eCdhEJ9v+8yCLN0L3R8aC4O2OUzPmV/ndTcAmKObozNs6xIG8d22zxxo+/srmhGBpkATADBHh1kpu1o9y38uWhla2ynP/t3TLK3WjAg0BZoAgDk6zPVbwuR1Tf6z59v+/KDmQ6Ap0AQAzNGh3bmEQbw9S2+0/dnvobUWHASaAk0AwBwd/sfnCYN4b5Zutv3ZW5oOgaZAEwAwR4ciOxIG8V9t/31RsyHQFGgCAOboUOa1mhPZ+KLxSs0GAADm6FAmZVeruWm/JgMAAHN06ORu4gC+naV5mosBma8JAABzdHN0c87xdT5xEG/WVPRBvGMXt+eOO6fF7bjPZulePuZe0zwAgDm6Obo553g6nDCAz2gmGhC34D6apdNZupClh6F8Wcjj8O9BxAAA5ujm6OacY2ZnhwH8d5aWayYa8HWWHuUXdKd/OC9oLgDAHN0c3ZxzfL3eofH3aSL6IK6Hfz9Unw0FAGCObo5uzjnGjV/W8Nc1D332S8nYW69pAABzdHN0c87x9qCk4V/VNPTZT6F4KQgAgDm6Obo555gr2tXqmGZhAJ4UjL2zmgUAwBzdnHP8HW1r9Pjy7BLNQp+tCcV36T7UNAAA5ujmnONvl0ZnCD4ouejXahoAAHN0c87xt2lOg/+qORiQcwUX/EPNAgBgjm7OORnirlZP8vSK5mAA4sG4RWcbOXgYAMAc3ZwT6MrGULyE4T1NAwCAOSfQjQMlF/0KTQMAgDkn0I1rBRf8b5oFAABzTqAbC7P0rOCi/1rTAABgzgl04+1QvIRhu6YBAMCcE+jGsYIL/mlo7awGAADmnEBtvxVc9Fc1CwAA5pyMs7hee3OWdmRpf5ZOZulilh5l6XDJZ5ZmaW9oHfj6ILTOM4p3RP7K0pUsHczSygHUfVmWPsjS6fzieZzX436WjmZp1ZyfXZClXVn6Nkvns3Qz/x1n+lCvuHX0V/nF+1dep8d527w15+dWhuIlDPsMSwAARnjOGefQr2Xpw3wufidLr3f4TIwfbuexww9ZWtfh5zfkcUWc5//cZT2XZ+lyXmas40eGTX+8FFqPzWOgdSNv8H8q0vaCjoqff9bhc//kP/Nllub14fd4PQ+GO9UjXnBb8s8UrUu/2WCd4sW2OxTfLWpPe/LPvF/y968ZqgAAjNCcc0U+n46bB13Lg9q5eT0J5Q9wYqD7a0H5D/P4Yvb3ej2v89ks/V3w84u7aK9fgg2QBmJ9Higez9KZ0HoaWTYwn7YFie9m6c+EAd2eLoXmnhquze/YtAe0Z/OBvyT/ubjWfGdoPdn8Kx/AXxXU7UhD9dpacLFfzy/q2YsnXhgH5rTtirwP2uv0yDAFAGAE5pzxodO5PCDsNOe/UJLHhg4xx5U8CE15kFV346KXKvJ603DqrxiQXS5p/Itzfu6rOUHd6bxjZl8cXpLfVakagAcbqOv+ggEY67iq4jOr87sr3xQEqDFt67FOi7J0Ijz/FHVXxWc+yH9ub/6z7XU6Y1gCADACc864LDa+VhdfSYsPq36smO8XLcPdFIqfTM5Nd/I5+dY8kPy64mf312y3lzsEuPTZzpLG353//Tf5f/+UpTUV+awN5Utx492UF7usX/zcDwX5vZ/4+WN5EPw0VD+xrSveIbndlue9/M87iXeifi9pq3cNSQAARnTOebQkvw1tP7ehJMBNebL6YcnPnu2ivmVLjJ8YWv23t6Tx49PAg/n/j8FayvLXb0LnNeJ1rM0vpLn5xOW7b9TIY1dJfb7voc025hfF3PzikoDliZ8/WdFOyw1JAABGdM75TkFej9t+JsYRs6sdT4XWxkTXQudVlHPdLvjZ+13Ud0Nev051pg+K1mz/lg+Iui/LbqsYzOdq1mt9eH457t8Fd0s6KTuc9pMu22tzwWB9ktc31bGSOt00HAEAGOE5584O8/zF4d+niHPn2/F1t6InnG+VlHOgpO7dnPu5saDs64ZY/90t6MDz+d2T72rmtbgi0PyjRj7rCu7edPvSbtnS4Fe6HKRFd0Q+qJnPiZI6HTEcAQCm3ijPOb8oyG/vnL//Lv+zLws+u21OwBcfIFUdNfJGSd23dFnv7W35HDXM+mtFKD8WJAagL9TMb6Yi0ExdB70sD0rbP/9pl79j0Rrvh13ks7Yk+P2ui7zOlrTRNkMSAGCqjfqc84eC/Gafsu7J//tqxefn5TFGp9fy4t8X7US7u4e6z81ns6HWX+9WBIZvNdCB7ZvvdBIfhV8Pze4KVbRkoO7OrvFJ7Z1Q/PLy0i7qdDl0Pk4GAIDpMupzznkFwd9f+d/FzYme5HVtas+RGwX1P9VD287dTIk+O1MSFP7U0J2Cui/cFgWFf/U4WC+E3nfZ+q7kd/qoyzoVrU//3nAEAJhqoz7n3B7KH+DMPunc1edY5dcu89oRqo9ioWFlh6fu6DK/+RWB5oMOny3bSOiTHn/HovXtdQLX90vqdavL+izp0+8JAMD4Goc5Z9EJE/E1tdk9UZo+m7JoQ6CnXeY1G8THV+gWGW79VXaAaXzcPdNlnqsqAs0LFZ+LnX2/5MKa6eF3XFOQ5+0an4/vi/5Z8vu83WWdynbBXW9IAgBMpXGZcxadSRljint5ALi64XbZUfI7rKiZT/z5Z8HDnYHZU9Jxx3rIs+p4k6qdnb4s+cz2Hn/Hjwry/LbG58vOHrrRQ52OhGY2J2J6Vd3QGZd0TDcygi4OYOzHiU58hymutok3duOGGWfy78F3+jBJA8bDOMw5V5fktzf//4f60C5lO8/W3czocPj3CEd7ogxA2RrwTT3k+WHFl+s7JZ9ZGYp3lGribJsrPdwVWlfxu7zfQ52KDp89ZThSw94JCDQP6UZG0Kd54Pd4yNdHfDIQb4pu1CUwFcZlzlk0z4+72saTKuKJEf1YjrqgpF3qvAcanxY/Cb0djUINM3MavMkna6crLpQlJZ852sAAKvJiQQAb/zv1yJZzJfWKyxrmd1mnNSV57jQk6fEGyjiluNmYu4mMuvidFW+QXhvy9XIjNLuxBjB6xmXOWfSQ6uf8f/f0sX2KYpava3z+eP6Z04baYGwsGXzHe8z3bqi3i20MBp8W/Pz90Nu7mdEnoftdqlaG7pYAd3KwZhAO7RaF4hUA45Litb1UNzJmvulirP+YB4gr53yfzeT/3m8NrR0Pf6yRX1zls05XwMQZlznnTMmc/Wk+/5/pYxsVxRepT2ZfCf9uSmq+PSAHQvPvRK6puFA+LPnMvtC/ZXVFZxAdTvzsoYrfZXMPF+jd0NwWzUynHYmT0rhcJt65+zi0lovHpSJxt+UFDX8ZxPc1HiXWKd6RfE0XMoYWhuIjAsrS/prfnRdqXEP/0R0wUcZlzrm5op4f9bmNiv6NvJDYDrPncL5lqA3OD6HZw1ujz0oG39+hfM32jZLPrOnx93sr9Pbi8O+h/CzQbifpZTt/fWk4UsOZin/o4y7NcenKsgHVZVEofv+jLFn+xzj7LqQ/yezGzlD8tKAo7dEdMDHGZc75VUme8bW7+X1uo9OhuyNfZh+sHTfMBicGk8+6vDNQ5WbNQf1SKH8S06vroXinv5QL4ZWKL/czPdTpl9Ds3SqmT/zCKXqq8kcYznu+dXboPKL7mJJAc28PZbxZ45pydx7G3zjNOcseDn0+gHb6NhS/v1plfT73j7vMOjNzgLaHestbU5S98xmfZr5Y8pn3Sj7zdY+/3zuh3nui7fb0YQKxtSS/p6G/a9qZLJsKxtCVimusnw7UmBB/r+uYALcSx/uaAV1b8SmC941gvI3LnHNZRT1XDaCdPiz5fcosygPM+LrBy4bZYB0pGSgre8jzUkmen1V85lRo9lDaKD6xvFOSb+r7mVVLE7d2Uad4UZc97b1gOFLD4bbxc35INyq21wgyfzcZZgKUrQRqT3cbKutu4vX1la6BsTYuc86yh0NXB9ROO0vKL3vlb3YX3w8MscG7UTIZ7Nb6UP6+WNU7n2W77fVyN/jz8O/Ty26XGf1acdF38+To44r8dhuO1DD3fci4LGbBEOoQr8/UTVHiz63VbUyATYljvqn3gD5NLC+uGpqve2BsjcucsywgHlQgV7b3StGS2H3Be5lDs7Sko072kGfRxkLP8gC0StlktdsnNLO7YX2e32Fpzzf1/My/Ky7SunVb1WFSvsaQpEaAN3fnydVDqMPiUL5ioJfNt2hWvMH3TUl6R/N05bPEMb+9ofJeqnGdbdc9MLbGYc5Ztj/E0zC4dx+3lPxOG9t+bnbFlfO6h6TsaIQdXeZX9ig7ZV152e563YhPTeJLwddC8Tk/NysmzksS6/VPFxdmHOhlG6b8UfHZZYYqbebepTwwpDpcCv053oFmza/ol280T1e+Txjz8QbrwgFNQG20BZNhHOacZfuwXBxgO5XdfNvSVs+4U++9MJy9K8icKOmo5V3kFTvxYej+6ejThu7grAitQ+BnD4J/oyDPEwWfW5gHpqdrXPR16nYstA6H/bAkr7KDZjfkF4qnncw1+5Q+/gM6jCWzX9QIMs/rLoHmBJkX0o4d+WEIwW1M53QRTGSgOSpzzoMleQ7yTN+Fofo91nhG95958srOEN0v6KQHDX4JXgrpj6rLHu/X2R1qdf47xYvk1fzPitan7yyYiF0OrXfe2pfUPqy46FPrdnBOuV+X5PVuwefW5OWfMlSZI47R2Y1IhvFi+zs1gsy4esA24gLNSfJWGM5T/POJ5V7URTC2xmHO+XMoXsHxwgDbaSaUvzoQj4h5lNdpiyE1PGWPnbu5G1q0/XoM3Oo8aSm7W5u6LHDTnAt07jsqZztcrDEQ/i7/7KqaX+4pE4kv29q1bBlD+zt2celCfFrlvB/KAr1bQyh7XX4jJ/W4hZW6S6A5Yb5OHP+vCTSBBq/zUZhzvlCS36UhtFVRPWKQ/SD0fmoFDfggNHPQatF7mSdD/SWvZUvx/gzVG53EC+KrOT//Xtvf/xbKlx8szC/CuFRhY0n+VTt2PQrla9mXzbnA4y6+i/M/fxQ6r72Pn70TPPKn+kbRoMdGXB6feszCs/zmDwLNSXM7Yfw/6kO5F4Ol6jDpRn3OWba3y4dDaKsnFW31nqE0fOdKOmdnjTzeKZhcdnug7Muh+snIR+Hfd0djoLg+v3Mxd5nBrsSBGPOKTz1nzxZ6t8Pkumow383vmszMqVcMmv+eEyjPvXDL1t/Prit/M7SW/3rkz6i5EtKXzO7RXALNCbQ8cfyf6UPZvyeWfVQ3wdga9Tlnk3u79OrxCAW9FCjbwW5X4ufbz/W6Geq9T1nkQo2JbPtdnrILpNNnP0mo1/4u6xXfO21/UppyyPfTYIt6RsuRGuP+hOYSaE6o9xOvgXcbLnde4ndHTI6sgfE2ynPOPwo+/+uQ2qlob5e9hs9oeK1iwP3U4bPxZeG5TzYe5B0700C9loZ/11anprhT7IqaA3E2fVajbpdq1itejK8W5NNp6WF8QmvJIaPk3Rrj3llVAs1Jdi7xOljScLlvhvQl60t0E4y9UZxzvlKSx6ERCTR3Gzaj49MOA+/7PBidDR5jIBeX1M59R+RWHmAubLhu8X3MlHdg4ruXKU9fz5Tcvan7aD1Onr9KvODjjl1lZ/YcCNWbOKwwPBkh8YsrdfOf2SOFEGhOovh9mHKW5fU+lH0s8Rq8rJtgIozinPOTMJiNz+oGmk9Dvdf+GICyHV5jR+0Lrbu2s8eEPMn/907+5zG4XDeAL/R4Z+LKnDrEL/gfQ2sJX50nfsvy3/dJPijjRkW9bKISA+G4Hv7nOXWL+V7N7+q8lJBH3HDpYf7ZO/kk4lXDkhETv7juJX7RPRnilw0CzUHYmHgtfNFwuYtD+s2ezboJJoo5Z7l4Yy2uonrFMBm9uyRFLwc/0jRALt7suRbSl+3s0mQCzQl3cEjBXupTjR91EQDDVvauxxlNA+SO1ggyj2gugeYU+CnhWohPHGYaLDOuEkjZzCP+jKOwABi6svMq39c0QGidP5UaZH6vuQSaU+CFxICvyTMs42sf9xOvw090EQCj4JeSL6qVmgam3oZQfu5We4rn+tnhUqA5DXYkXhNNnd+2MqSfm3la9wAwCl4o+aK6o2lg6sUdY/8I6ed1Waon0JwWJxKvi1UNlPVWaG3ckVLeOV0DwKh4OzhgHSgORlLeQZtN2zSZQHOKpNyA6fWGbdw98nyNa/CQbgFglBwv+cJ6W9PAVEt9YhPTfs0l0JwiaxKvi6Nd5B03Doo3bS7WuP7ikUOOMQFg5PxW8sXlPSuYXrtrTHLPay6B5pTZm3htHM7SG3l7F4lHi8Xl5ttD62ZNvJYe17j24nL1ePj6Ql0CwKhZXvLldVPTwNSKh9Cn7KYZ040sLdJkAs0pc7lGMDibnuaBYUx/h/QNtsquu72uPQBGWdmRBd7PhOkUbz49SJzsxs1J7Ewt0Jw283oMErtJ8cbPtSx9GlrLdgFg5H1f8qW2U9PA1FkQyo86Kpr4btJkAs0ptHVAweWVLH0eWjvOztPsAIyTDRVfcDYCgulzqsYkeI/mEmhOqSMhbZls3NAn3rSNK4fiu5pxpdDZkL6Ts+9hAMY2yLxf8QV3NUuLNRNMjdTNTSytF2hOu1sh7WlkmbhxT8qGPxc1NQDj4pXQOsj5dkjfuOCH0LoDe0rzwcTaVCPIjE9jLOMTaE6rZYnXyb4O+RwPacvTl2pyAMbB2nwC0U06ovlgIsXNfB4mTp7vm/gKNKfce4nXyqsd8nm9oYAVAABGTlzCdz1xwvskS+s1Wd9tDoPdzXSY6dgY9s+ZhN/rUWJedxLyuuWSAABg3JytERTs0lwCzSkPNGdC6wzMTr/XmcT8Pktspw0uCwAAxsW+GgHBYc0l0BRoVu7UPje9m5jfitB6D3MSn/wCADCF3qwRDHyvuQSaAs3/dyDx91peI8/LCfnFHWrnuzQAABhlq0PrHbKUCXN8h2yJJhNoCjT/37WE3+lmzTzfSWyr91waAACMqkUh7QzAmOK7aGs1mUBToPnfaydlmevXNfON732m7Pp81aUBAMCo+q5GELBNcwk0BZr/9XYfr5sjiXmvcnkAADBqUt8vi2m/5pp4ztGs53jCdfM0S/O6yPvlxOvyoG4AAGCUbKsRZJ7TXAJNzfOc+wnXzpUe8k85z/aebgAAYFSsCWln/8V0I7TeRUOgyf9eQynXz74eyvgosYzNugMAgGFbnKXfEiewcUOSFZpMoCnQfM6exGvo1R6v1acJZZzWHQAADNulxAly3E1z05DquD5LL4XW7psINEfRhYRr6FED5ZwJae+BvqBLAAAYlkMh/b3Mj4ZUx8Xh3zM9l+sygeYImhfSnjSeaaCs1B2Hd+sWAACGIfUQ+JhODLGeX+R1+EmXCTRH1JuJ19F/GirvXkJZv+gWAAAGbV1I3/wnBnjzhlTPeCbg7JOifbpNoDmiDideS009kU9dibBO1wAAMChxKerdxIlqPK5h6RDrenlOXdboOoHmiLqRcC3dbLC81YnX72FdAwDAoFxJnKQ+Ca1NeIZl15y63NZtAs0RtSzxevq64XJ/CGm7RNtACwCAvktd4vdPHugNSzxC5c85dTmk6wSaI+q9xOtp25DKfVsXAQDQT+/WCDK/GmI9F4TWRiZz6/Oa7hNojqiU40bi0UDz+tA3jxPKvqiLAADol1cSJ6UxfT/kup4Pz78nikBzVKVsqvVjn8o+lhjkLtVNAAA07cWQdhxCTHdCa7OgYTkd+v9uW6r4BGp7lo5n6VoeUMT3Vp/m/z8G5F9m6XWB5tR6I/G66ldbbUgs347NAAA0Km4EcjVxMhqDp7VDqueSPHArqtfmAdflhSx9Hv73HdFO6Xpo/h08geboO5I4Pnb0sQ63Esq/G2wKBABAg47WCJaGFSjFd0f/KKnTnwOeIL9VUJe4dPeT0Hp6tCi0jlmJdb5WUN8zeaAq0Jx88Yn3wxG4tvYl1uGDMWrbeHMprhb4LksPQmslwbP8fx+F1k2puLHZxg75vJz/7mfHsF51Nm4bRtru6xUAptd/akwa9g+4bvFIiI9C62zBqnqdHGCdPiso/1weXJbZlU8y289LXCbQnHh7R2RSvjQPdlLOxF00wu25KP936H7NgCduHLalIL94w+d6/jN7x7Bet0c4yHyW/9sAAEyhV0PrXcKUScO5PgUoC/N6vBlaRyx8nKVTNSdQg7prfqig7O8SP7ul4LO/hda7sQLNybQytJ5gpY7jA32uz4XEenw7ou0Zn/gWrWqIy/mP5H8/N0iOT5PX5Td6LoV/zwyNTwjjBknxBtXc99K3jFm9llf04W/5v6Pvh9YKjA158Noe+B3oECguKCh3Jr9xEf+9Pl7xHXLVVywATKcXQ/lS1HFKT0PzR0IU2R2K32mrswR2f0Ee18L4vxcn0Hze6iz9XnMsP8iDh37ZXqMuo7Yx0Keh/AbYksQ8XskDsCaPlhlmvT4o+PkYrL5ao/5V7+b/UOOGyk/B5lIAQD5x+XECgswm36uq8npJ2Ttr5jNTMqH8UqA5MeK7uV+E55dKp6ZH+Q2JNX2oWxx/D2teW6tGoE33lNTvTBd5LS65Bm+OYb2+C//79PStLr4HqpZT769Z/zttn3/FVy0ATJ+DExJkxvRun9tqYcEEKqbbXeb3fsnvMc6TsmkPNOOmLfFc16ZXCMQzbePGMacbrGs3m8dcz+vw0RDa9pWSOsW2XtRDf7Xnd2rM6hVvGjydM05e66K8Tk+46+Y5933/B75mAWA6pRzgPg4p3o3v9+6tZe8w7ekyv7JdSH8RaI6trQMY601Z20Mdzg+hbX8K/dmY7HzobbfdYdfrzTk/858uy/omVD9Z7+bfttknpCcDAACl4nusT0oC3CU95Pt1mKyjACydpR82VIyrV3vMu/1p3mtjVq/ZJ9MXeyirasO1M13mOXuu8NuGLwBAuUOhP7spbirJ91eBJjwXTBWlmQbH7NOa+Y1CvWKQGG94vdRlOctCf15JeBgGs9IEAGBsxQneg5JJ2KcN5F12JMCrY9hWAk364YfQ36XEd/O8fhyzeq3K//5YD2W81yHQ7PaM379DaydtAABKbKuYhG1uIP/LJXkfG8O2ioHmk5J0xFCih6ClnwHdd11ec8Ou1+yxJr3sTHwmVG/+1K34NPOAoQsAUO54aPa8vXZfhvJNOGY0P1QevbG0gfxPh+6OKRp2veK/P2/0WMafFb9Dt8ctxXrFTYDWG7oAAOXulUzCbjWU/46Kid4bmh8qA7qdDeQ/ezNp3YTUK9X6UL1sdrOhBwDQH8tD87sxtqvaufKgLoDKp24/NpB/XJr6eILqleqTUH12qxUVAAB98k7o/+Y2VRvoXNYFEC6E6idvvR6hEc8U3TxB9Up1OYzWWakAAFPji4qJ2K4Gy3kcyp8qwLTb1yGgi0dprFCvWuJ7lE8r6v6hYQcA0D/nKyZi2xss50Zo/ngBmBRxCfuzDkHdL1laoF7J3uxQ75cMOwCA/vm1YiK2pcFyqpbgbdUNEA53CIz+ya8j9eq93ncMNwCA/npcMRl7ucFyzob+7l4J425Rlu4mBHUn1CvJ9Yq6HjXcAAD6Z6bDxHFhg2WdrCjHoefQ8lqofq9wNh1Wr0ovdqjndkMNAKB/FnaYjM1vsKxjFeUc0xXwXzsTArph3KAZ1XoVqTq792nD/7YBANBmWYcJY5OOVpRzSlfA//g4Maj7TL0Knaqo2xXDCwCgv94YYKD5TUU5Z3QFPOdAYlC3X72e80dFvfYZWgAA/bV5gIHmFwJNqO1gGM0niKNar2hNhzqtN6wAAPpr0wADzd0CTehKyvEiMe1Rr/+3p6IuDwwnAID+WznAQPOwQBO6dj4xqNuuXuG7inqcNJQAAPpvURiNdzRtBgTV4i6pPyQEdPFc3PVTXK94ZFPVMSw7DCUAgP6b12FyOK/Bsr4NjjeBXizO0s2EoO5ulpZMab2qXgd4ltcVAIABqLr7v6DBco6H0T53D8ZBPJLofkJQd2ZK6/V5Rdk/Gz4AAINzr2JitqLBcqrOtdupGyDZ2iw9SgjqtkxhvX6qKPeQoQMAMDgXKiZmmxosp2rTkK26AWrptGN0TNenrF7xnfNnFeW+YdgAAAzOyYqJ2bYGy7lUUc5S3QC1fZoQ1L0+RfV6O1RvRjRjyAAADM77YTBLWh9VTACB7vzYIaA7MkX1qnoP3BFKAAADtjH0/52m+CShbEnbJV3AFImrBFY2mN/LHQK6q2NerzruVJT3gaEHADBYVefONXW4+aqKCeBBXcCUWJKP+V0N53u54vr6a4zrVcfqDoHtCsMPAGDwrpZMzn5sKP/tYTAbDsEo25qP+R0N5/tuxfX1dIzrVccHFWX9ZugBAAzHJyUTtCd9zv/vYIMOpseu0J/jfFb3GNCNar3qOBdG7z1VAICpVzUhfLmPk8CTmp4pciwf93sbzncm9LZEdVTrVaecv8Ngds8GAKCmn0P/NtH4M4zGgfIwTLNn1vbjBktZkPXDGNcr1YZQ/eR0nqEHADA8u0N/jgVYX5LvPU3OlJk94udmw/lWPTk8Osb1SrW/ohy7WgMADNnC0FrOVvSeZi9PBA6VTAD3aXKmyPy28d/kUSJrKwKtLWNarzquVpSzx9ADABi+sqCwl2MP7hbkF5fSvqC5mSLtyzubPNanbMfVe2NcrzoB/LPQ33fMAQDo0eLw7zK6uemnLvMrO9bE00ymzY7w/GY4SxrK+4eS62zvGNcr1c6KIPOJYQcAMDreK5m0be4irxsF+cT3wBxpwrT5vOBaONVAvhtLrtfrY16vVJcrAs1Hhh0AwGg5XTBpu5WlBTXy2BOKz81cp3mZQmdLgqHdPeS5KEu/lQRYq8e8Xik2VwSZTR+hAgBAA2JAWbTBRuoOtPG9r8dtn43vUTnOhGl1qyIg+rjLYO5KSXC1cQLqlfJvzKMOgeY/DQe2AAA0FGxeLJi4nc0nk2XeCs/vXhv/+01NypSKS8WfdQiILtQIimKQVfTE8I8svToB9aqq7+tZOp5Q79l0J7TeQ11kGAIAjJZPQ+vQ8/aJY/zzN/IJ3KosvR2K35f6NUsvaUam2OrEoOhZHtjFDW7WhH/fZY7/G5ecx11cyzbYORFam3lNQr3mije84kqKn0Nrc59/ekjxhlfc2Oxc/m8XAAAjMFE+FdKfIsw+SXhf08F/d1+OQc6GPECLKd6AeS8PpB50ETg9za/LlyesXnMt6jG4LEv+bQIAGCFL8gla3Cwo7igbN/d5kqf4vlRcavtlaPZdLBh3MWi7HTqfHRtXBryTpaNZOh9a500+brvG4qqBb0NrBcGCCa0XMMH+D+b5+W3SeL0IAAABmHRFWHRNYXRoTUwAPG1hdGggeG1sbnM9Imh0dHA6Ly93d3cudzMub3JnLzE5OTgvTWF0aC9NYXRoTUwiPjxtc3R5bGUgbWF0aHNpemU9IjE2cHgiPjxtc3ViPjxtaT5WPC9taT48bXJvdz48bWk+cDwvbWk+PG1pPmE8L21pPjxtaT5kPC9taT48L21yb3c+PC9tc3ViPjxtbz49PC9tbz48bWZyYWM+PG1zdWI+PG1pPlo8L21pPjxtbj4wPC9tbj48L21zdWI+PG1yb3c+PG1zdWI+PG1pPlo8L21pPjxtbj4wPC9tbj48L21zdWI+PG1vPis8L21vPjxtc3ViPjxtaT5SPC9taT48bXJvdz48bWk+UzwvbWk+PG1pPlM8L21pPjxtaT5UPC9taT48L21yb3c+PC9tc3ViPjwvbXJvdz48L21mcmFjPjxtc3ViPjxtaT5WPC9taT48bXJvdz48bWk+ZDwvbWk+PG1pPnI8L21pPjxtaT52PC9taT48L21yb3c+PC9tc3ViPjwvbXN0eWxlPjwvbWF0aD7kcPgZAAAAAElFTkSuQmCC\&quot;,\&quot;slideId\&quot;:261,\&quot;accessibleText\&quot;:\&quot;V subscript p a d end subscript equals fraction numerator Z subscript 0 over denominator Z subscript 0 plus R subscript S S T end subscript end fraction V subscript d r v end subscript\&quot;,\&quot;imageHeight\&quot;:48.48},{\&quot;mathml\&quot;:\&quot;&lt;math style=\\\&quot;font-family:stix;font-size:16px;\\\&quot; xmlns=\\\&quot;http://www.w3.org/1998/Math/MathML\\\&quot;&gt;&lt;msub&gt;&lt;mi&gt;V&lt;/mi&gt;&lt;mrow&gt;&lt;mi&gt;r&lt;/mi&gt;&lt;mi&gt;c&lt;/mi&gt;&lt;mi&gt;v&lt;/mi&gt;&lt;/mrow&gt;&lt;/msub&gt;&lt;mo&gt;=&lt;/mo&gt;&lt;mfrac&gt;&lt;msub&gt;&lt;mi&gt;R&lt;/mi&gt;&lt;mi&gt;f&lt;/mi&gt;&lt;/msub&gt;&lt;msub&gt;&lt;mi&gt;R&lt;/mi&gt;&lt;mrow&gt;&lt;mi&gt;h&lt;/mi&gt;&lt;mn&gt;1&lt;/mn&gt;&lt;/mrow&gt;&lt;/msub&gt;&lt;/mfrac&gt;&lt;msub&gt;&lt;mi&gt;V&lt;/mi&gt;&lt;mrow&gt;&lt;mi&gt;p&lt;/mi&gt;&lt;mi&gt;a&lt;/mi&gt;&lt;mi&gt;d&lt;/mi&gt;&lt;/mrow&gt;&lt;/msub&gt;&lt;mo&gt;+&lt;/mo&gt;&lt;mfrac&gt;&lt;msub&gt;&lt;mi&gt;R&lt;/mi&gt;&lt;mi&gt;f&lt;/mi&gt;&lt;/msub&gt;&lt;msub&gt;&lt;mi&gt;R&lt;/mi&gt;&lt;mrow&gt;&lt;mi&gt;h&lt;/mi&gt;&lt;mn&gt;2&lt;/mn&gt;&lt;/mrow&gt;&lt;/msub&gt;&lt;/mfrac&gt;&lt;msub&gt;&lt;mi&gt;V&lt;/mi&gt;&lt;mrow&gt;&lt;mi&gt;r&lt;/mi&gt;&lt;mi&gt;e&lt;/mi&gt;&lt;mi&gt;p&lt;/mi&gt;&lt;/mrow&gt;&lt;/msub&gt;&lt;/math&gt;\&quot;,\&quot;base64Image\&quot;:\&quot;iVBORw0KGgoAAAANSUhEUgAABIMAAAEdCAYAAACfX6djAAAACXBIWXMAAA7EAAAOxAGVKw4bAAAABGJhU0UAAACq9ifYaAAAMatJREFUeNrt3Q/kVef/APDHR5IkkiRJTJLMxEwymZFJkkSSmcmYmSQzMkkyYyZJMpJkJpFkkhnJJDMjX0kmkSSZRCZJEvud53fPx+5u55z73HvPvZ/75/XisVX3Pue5zznnvt/3Oec8TwgAk+1SVv7pc3mVlRdZeZ6VJ1n5NStns/JdVrZnZYXdAABiPAAAg/FVnrg9H0DCWFUeZOVEVtbbJQAgxgMAMBgLQ+Mq3rUZThpvZuUjuwMAxHgAAAbneBcJ3m95grc8K1N5PVN5AropK/vy16TWdyMrb9oVACDGAwDQf3Oz8rSDpO5AB3WvysrFxHrjPAQf2x0AIMYDANB/P4X0q4Xd2JmVl4nb2GN3AIAYDwDAcCSKe3vYxsaQfmVyi10CAGI8AAD982diAreqx+0cTNzO49CYmwAAEOMBAKjZrKy8Skje7te0rfuJyeJhuwYAxHgAAOr3fmLidqqm7X2VuL1nWZlt9wCAGA8AQL32JyZuW2va3sqQPq/AVrsHAMR4AADqdTkhYYu3mM+tcZvPEhPFo3YPAIjxAADUJz7fn7Ic7NUZSE5jOW8XAYAYDwBAfbYkJmwHat7uhcTtXrKLAECMBwCgPscSE7a1EkUAEOPFeACA0Xc7IVl70oftXkpMFC/YRQAgxgMAUI+licna2T5s+17itr+3mwBAjAcAoB6fJCZrH9a83Tih5avEbW+3mwBAjAcAoB7nE5O1hTVvd2Pidl/1YdsAIMaL8QAAE2kqK88SkrUbfdj2ycRE8Re7CQDEeAAA6rE+MVn7tubtLsjK88Rtb7CbAECMBwCgHodmKFk7nLjd3+wiABDjAQCoz+8JyVq8ujdV4zbXhrRJJeNrVttFACDGAwBQj/mJCduFGre5JCsPQ9oVwy/tIgAQ4wEAqM+OxITts5q2tzwr9xK3ecbuAQAxHgCAep1OTNreqGFbW7LyOHF75+0aABDjAQCo318JSdvdHrexMjRuQf8nsXxttwCAGA8AQP1WJSZu33dRd5yIcnNWLnWQID4IlpcFADEeAIC+2ZuYwB3JyntZmV1Sz6zQWA1ka1YOhMYVwucdJIhPs3IwK3PtEgAQ4wEA6J9fOkjmpsvLPLGL5Vn+53+6LDfzZHWeXQEAYjwAAP01q8ckr5sSl7e9lpWvQuP2dQBAjAcAYEA2DSg5vJKVb0JjlZFZuh0AxHgAAGbG0ZB2u3icIHJnVnaFxrwCcZnac1n5PTFR3KarAUCMBwBg5v0Z0q74lYkTQaZMIHlJVwOAGA8AwMxaEtKu+O1rU8+pkDaHwGJdDgBiPAAAM2dXYqL4Tpt63q0p4QQAxHgAAProbEJy9ySxrrsJdf2pywFAjAcAYGZMZeVpQnJ3NrG+/SHtyuE6XQ8AYjwAAIO3LjGx+zCxvmWhMWdAu/pO6noAEOMBABi8g4mJ4tIO6vwlob64Ksls3Q8AYjwAAIN1LSGpu9VhndsTk89duh8AxHgAAAZnXki73ftYh/XGOQoeJ9T7q10AAGI8AACDsy2kXd3b3EXdRxPrfsNuAAAxHgCAwTiVkMi9zMqsLup+KzFRPGQ3AIAYDwDAYDxMSOSu9FD/jYT6H9gNACDGAwDQf6tC2lW9fT1sY3fiNjbYHQAgxgMA0F97EpO4d3rYxoLQuAW93TbO2B0AIMYDANBfFxMSuCc1bOdsSJuzYL5dAgBiPAAA/TErpF3NO1vDtjaEtKuTn9stACDGAwDQHxsTk7ePa9reg4RtXbdbAECMBwCgP44kJopLa9re14nbe9OuAQAxHgCA+t1MSNpu1bi9FYmJ4hG7BgDEeAAA6rUkMWk7VvN2ryZs83FWpuwiABDjAQCoz67ERHHzDG13m10EAGI8AAD1SVkG9lVorEZSp9lZeZ6w7Ut2EQCI8QAA1OdpQrL2W5+2fTIxSV1sNwGAGA8AQO/eC2m3cR/v0/bXJW5/34j385L8M/ycJ+YvQuOK6bX87+c7FAEQ48V4AIBBOJqYqO3oYxv+TNj+/TCak0zOy8rhrLxs8/ke5Uk7AIjxYjwAQN/E+QEeh5mZWLLZvsQ2fDpi/ftGVu40tf9uaEyoOTv/9/dbPl+8irjaYQmAGC/GAwD0y97EBC2WrX1sR5wr4FVCGx6GxlW4UfBWaFwJnG771YK2ryz4jBcclgCI8WI8AEA/LM/Kkw4SxYN9bs/FxHacGIG+XdaSJMYrhwsKXneq4PM9d2gCIMaL8QAAdVuRlXsdJInTz7sv7WObtnbQlmGeaDLeHn6jpb3vdZAc/+3wBECMF+MBAOqyKivfhsYqF/90UeJVxgN5PXWLE0c+7qAt50Ljef1h0zpZ56WK1+4v+FyHHaYAiPFiPABAL+Jz7fEZ9b+6TA7LSrzV+XJWztTY1iNdtONG3obdQ9DXawra907F6+fk+2b6tefzvwMAMV6MBwDo2qaaE8SiUpfVPbRhGCZl/L2lTTcT3xevfi5yqAIgxovxAACMjo0FyesXugUAxHgAAMbT1YJEcaluAQAxHgCA8fNmQZJ4XbcAgBgPAMB4OlqQKH6tWwBAjAcAYPyULZe7QdcAgBgPAMD42VyQJL7ME0gAQIwHAGDM/FCQKP6qWwBAjAcAYPzEK4NPCxLFw7oGAMR4AADGzwcFSWIs23QNAIjxAACMnxMlieIKXQMAYjwAAKMn3iL+rCQZ7KXM1bUAIMYDADB81vYhSbylWwFAjAcAYPQcLUkEd+kaABDjAQAYP5dLEsW3dA0AiPEAAIyXOM/Ai4Ik8bmuAQAxHgCA8fNWKL5ieEnXAIAYDwDA+PmwJFE8qGsAQIwHAGD8nC5JFDfrGgAQ4wEAGD/XC5LEV1mZo2sAQIwHAGC8zMqTwtZE8ZauAQAxHgCA8fNeKL59/LSuAQAxHgCA8bO7JFHcqWsAQIwHAGD8nClJFFfqGgAQ4wEAGD93C5LEp7oFAMR4AADGz9xQfMXwvK4BADEeAIDxs7kkUfxK1wCAGA8AwPjZX5IofqBrAECMBwBg/JwvSBJfZWWWrgEAMR4AgPHzpCBR/EO3AIAYDwDA+FkSim8fP6FrAECMBwBg/GwrSRS36xoAEOMBABg/35Ukist0DQCI8QAAjJ+fC5LER7oFAMR4AADG04uCRPGcbgEAMR4AgPGzOhTfPr5H1wCAGA8AwPjZWZIovqtrAECMBwBg/JwqSBJfZmVK1wCAGA8AwPj5oyBRvKJbAECMBwBg/MQrg68KEsVDugYAxHgAAMbPulA8l8D7ugYAxHhg8nxU8uVRVzlZY1sv1NSmS3Y7MGE+LfgufB7MJSC+iq8AYjxivBg/kd7ND5CHNR/A97PyU1Y+qbGte7Pyc1ae9dCu+Dztl3Y7MGHOFHwfntUt4qv4CiDGI8aL8azIyokuD5AX+Xs3Z2X2ANq6KisHs/IksX3Xs7LaLgYm1O2C78UPdYv4Kr4CiPGI8WI8077p8CB+kJ8EM2FJVv5q0744k/4cuxWYULND8XKz83SN+Cq+AojxiPFiPNPi86X3OziQd85we4+H6lvtFtilwATbXPDd+JNuEV/FVwAxHjFejKfVgQ4O5Nkz3NZjFW0ziz4w6Q4VfDdu1S3iq/gKIMYjxovxtFrVwYE80y6VtOuM3QgQrrZ8N8bJDq0wIr6KrwBiPGK8GE+hRyNwIMfnGF8WtOnvrCy2C4EJF+cMeNXy/XhQt4iv4iuAGI8YL8ZT5lzigbxkBtu4q6RNu+0+gP9/Hr35u/F5VhbqFvFVfAUQ4xHjxXjKfJF4IG+awTZeL2jPDbsOGHNx9Yn5Ca/7qeX78VtdJ76KrwBiPGK8GE+VTYkH8scz1L61Je15x64DxlS84vdr0/fd+azMKnntovDf28efBFcMxVfxlckQvxePl5TtugcxHjFejKfa3MQD+eQMte/iELUFYBBOFHzvfVHy2oMtr/tM94mv4isTYnbFeXVc9yDGI8aL8bT3d8KBfGEG2vVWQTuMiAPj7lnBd9+PBa+bn38nTr/mV10nvoqvTBCDQYjxiPFiPD26lHAg35+Bdv1c0A4j4sAkJop7C153sunf/wpWhhBfxVcmi8EgxHjEeDGeHp1IOJDj86pTA2zT+oI2/GFXAROgaIWKeS2v+azp355m5W3dJr6Kr0wYg0GI8YjxYjw9+iikPfO4aoBtulFwIq22q4AJEL/rnrd8B05Phro8K8fCf68WShLFV/GVSWQwCDEeMV6Mp0eps6FvHVB7Pi3Y9lG7CZggH4T/zhVQVOLVRbeNi6/iK5PKYBBiPGK8GE8fg2lz2TOAtizIyuOW7cZR8fl2EzBhlmTlm6zcDI2riM/z/49XDV0pFF/FV5xfBoMQ4xHjxXh69jThQP5hAO04XLDdnXYPAOKr+AqJP8QMBgFiPCRKmQ39Yp/bEJ+nfNWyzSt2DQDiq/gKLQwGAWK8GE8NTiccyE/63IYr4fUJr1bZNQCIr+IrtDAYBIjxYjw12BXSnnns19J4Wwq29bXdAoD4Kr5CAYNBgBgvxlOD1NnQ1/QpmN9t2c69rMyxWwAQX8VXKDm+DQYBYrwYT48WhJlbGu9gwXa22CUAiK/iK1T8EDIYBIjxYjw1eJ5wIO+reZtLs/KsZRuX7AoAxFfxFSoYDALEeDGemlwOg18a70xL/S+y8oZdAYD4Kr5CBYNBgBgvxlOTHxIO5Ms1bu/dgvoP2A0k2BDSbskch3LB7gbxVXyF1xgMAsR4MZ6a7E44kJ/WuL2bLXXfzsosu4EEBoMA8VV8ZbIZDALEeDGemqTOhj67hm19VlDvBruARAaDAPFVfGWyGQwCxHgxnposTjyQ3+txO3HW9cctdZ7T/XTAYBAgvoqvTDaDQYAYDzV6kXAg7+hxG0da6oszoS/V9XTAYBAgvoqvTDaDQYAYDzW6lnAgf9ND/auz8ir0d6k9xp/BIEB8FV+ZbAaDADEeavRjwoF8tof6f22p68+sTOl2OmQwCBBfxVcmm8EgQIyHGu1NOJD/6LLubQV1rdflMDT+UZQJKeIrGAwS4xVFjBfjocnWhAP5RZcB+15LPad1N0gUFWVCEkXxFQwGifGKIsaL8Qyt5Ykn2YIO6z3Y8v6/s7JId4NEUVEmJFEUX8FgkBivKGK8GM9QS5kNfWMH9S3LyvOW9+/WzSBRVJQJShTFVybFJM3rd1KMVxQxXoxnnFxPOJB3dlDf2Zb33tDFIFFUlAlMFMVXDAYZDBLjFUWMF+MZWmcTDuQjiXWtL3jvGl0MEkVFmcBEUXzFYJDBIDFeUcR4MZ6htS/hQE5dGu9Wy/tO6F4AxFfxFYNBBoMAMV6MZ7ikzIZ+M6Ge3S3veZSVhboXAPFVfGVsGQwCxHgxnhG1MuFAbrc0Xpwp/UnLez7StQCIr+IrY81gECDGi/GMqKmsvEo4mJdU1HG85bXXdCsA4qv4ytgzGASI8WI8I+xGwoG8qeS9b7a8Lp4Uq3UpAIivUJPZFefQcd0DiPHQnZTZ0MtuWbva8rrDuhMAxFeokcEgQIyHPjgUurs1dmfLax5mZZ7uBADxFWpkMAgQ46EPticcyBda3jMnKw9aXrNTV9IHkzQfwQW7G8RX8RVeYzAIEOOhD95MOJDvt7znYMu/X9GN9InBIEB8hclmMAgQ46EPUmZDf5W/LloeGkvlTf/by6ys0I30icEgQHyFyWYwCBDjoU/uJPxQXZW/9kLL3x/SffSRwSBAfIXJZjAIEOOhT84nHMhbs/Jey9/dC41nH6FfDAYB4itMNoNBgBgPffJNwoG8Nyu3Wv5ui66jzwwGAeIrTDaDQYAYD32yI+FAftry50u6jQEwGASIrzDZDAYBYjz0ydoOf7TGya+W6zYAEF+hzwwGAWI89EnKbOjN5YAuAwDxFQbAYBAgxkMf3U88iG9nZZbuAgDxlZE1e8TaajAIEOOhTy4kHsgbdBUAiK+MhHjlOi5tHFe0iUsZn8vKg/yYWzsin8FgECDGQx8dSTiIz+omABBfGUpx+eLvs3ImKxez8jiUP8LwPDQGikaBwSBAjIc+2tnmIH6WlaW6CQDEV4bSsaw8CY2BnnY/Ti6O0OcyGASI8dBH77Y5kPfpIgAQXxkJcQDlk4rjbu+IfRaDQYAYDzMQaG/oHgAQXxk510uOvbfH5BwyGASI8VCDRyUH8ju6BgDEV0bO76H4sYVx+bFlMAgQ46EGRbOhn9QtACC+MpJeFBx750bsMxgMAsR46LPvWw7iOAnhQt0CAOIrI2dVKB5A+WzEPofBIECMhz77aMSTBQAQX6Hh01A8gLJ6xD6HwSBAjIc+e7/pIP6f7gAA8ZWRdT68PnjyeAQ/h8EgQIyHAQTbF3lZozsAQHxlJE1l5Xl4ffDk7IiePwaDADEeAACgwvpQPHiya0R/aBkMAgAAAKhwMBQPniwbwc/SfNW9tRy1qwEAAABCuBZeHwi6o1sAAAAAxs/crLwKrw8GHdM1AAAAAONnWyh+RGyrrgEAAAbtUiifBLSuEq+Gx3kk4io6T7Lya2isnvNdVrZnZYXdAIy5kwXfjS9DY+4dEOMBABior/LE7fkAEsaq8iArJ0JjtR2AcXOn4HvvV92CGA8Ar5vKytqsfJaVM1m5m5V327xnb1Zuh8YViqtZebOmtswJjVu543KpP2fl73wb8are06z8kpUvsrKwi7rXZeVQnij+0WX7luZteJH3026HD12Ix2+8indthpPGm1n5yO6AWsU5azZkZUdWDmTlh9C4ayBeyT9S8p7FeVw9n5VHLXHvSh67lg+g7Uuy8mmeC9zJf9jGdjzMyvdZeaMlXn+U//C8kJVb+Wec6kO74g/bw/mP7ad5m57nfbOl6XXLS77r9jksEeOBMf4NPf079ZO8Lf9riZc38xyk2zsIRzm3oUVcWjU+U38sD1QvW4LHi4pkbnl+cLUGnMf5Adit90LjVteXiQHuaZsAN5WfjHuyci4rzwrqWNBFO68Hk1JSr+NdJHi/5cf/8qZzdSpPQDflP3x+66C+GzUHI5gUK0PjsaQLeaL1os25trUgcYvvfxXSHhGJj4PM6sPneDdP6tq1I8beD/L3FM3Nc6vmJPvzUHynT2vZk7/nk5J/X+tQRYwHxvA39HQ8/jXx++BFPqAzCbkNTeJOOp8fcO12ysWSOuKdNY8q3neki3Z9UDDAEhO/OFK4OSvzml4bRzJPtLx2b0t9n+cnWsrB1+lkkisr6troEKNLc/MfWKlJ3YEO6l6Vn8+pweFjuwM68nae8JwKjQsaVTHyZUuy82Fo3P3a6Q/Fn0N9d9+sLkggY/w8lyeX03fhxvl2dobGHUJP80TvcEHbjtbUrk0Fg0A38sGe6aQ5XtA52NS3y/J90NqmJw5TxHgxHsbsN/R022631PVHnl/Ma/r9fLUgzq8Z49yGAvH2tXg71/f5zq26olB0O/X7ofjumm6vCL6R7/TW929q875ZBdt9q+Xg3ZzXE0+QYzUF3JBvp6yuKw4xevBTSL9a2I2dIf2uuz12B3QtDpr8UnJuXWp63eGmhCzezr0x/DvBcRyA+bxN4nmohrYeCK9fOLkU/vsoWKsV+Y/K46H4KuTmHtsUk9fTobM7gT8N/14cKvrRfdZhiRgvxsOY/IaOlhb8jo7xr2zAd3XBNs+MaW5DB74v2RHrWl63LqRd1Ui9+hYD0fOCnZ8yGlh0W/oPCSdxUXvPddFnZberv3A4MYBEcW8P29gY0kfnt9gl0LWdJefV5/m/Tz828ntoXNkPFclb2a3Z8Yffoi7bF993taC+TxLffzJP5l6G6quDnYp337Ze4XyQ/31KbL5X0lcfOiQR48V4GIPf0CE/f5+0vP9hnjNUKXrse5xyG7qwvWAnPG95zYrw7wjej/kBWDYh3qU225uTD8C03qbWyeNa5wu2+3fC+24XvO9hF322LhSvFPHc4UQP/kxM4Fb1uJ2DiduJ5/xCuwW6srfkvIrx9FD+/3FAJeUCSNV8I91c4V+dD7C0xtD3Oqjjo5L2XO6hz9YXJLfxtvTUeRR+qOinpQ5JxHgxHkb4N/S0QyW/Z5e1ed9UycDLuOQ2dKlohO9807/H5/Gn74T5sunv4y3kRaOcVVca5pWcAJ0MBM0NxbfBptyVUxYgZ3eZtLZ+/hsOJ7oUr6SnzHF1v6Zt3U9MFg/bNdCVonlr7uQxstNFBzZXnKPnO2zX2+H127PjrevrOqxnW0l7vuyyvzaE1y+yvMjbm+pkqOfWexDjgWH6DT3tVMH7niXGyqKpTjq9M2hYcxt68G2ovkV1+rbW70p24tOmA7FqifV4R1DR85VfdNjesgmcUwZi3it57wdd9t3Wlnq+dzjRpfcTE7dTNW3vq8TtxfN6tt0DHSv6MRZX5HiSx9VOLKg4R//qoJ43w+t33nS7+EHZreJruqhrfSi+2/bTDus5XdKmow5HxHgxHkb0N/S0srtfdya2d38Ngy7DmNvQo6sFO2B6dHFP/udfK94fr0DMD+1vB/sp1Dfqdyt0N5oa21h0ZebzHvqvuZ4NDie6tD8xcdta0/ZWhvR5BbbaPdCRZaF8Sfb7eczsxFSoXh0oxZI8uWp9/1ddfsaiefged1HP6lA8QPVTF3WdK+mjzQ5JxHgxHkb0N3T0Xcn5mzoBdNkdg52sLjiMuQ09Krpt9WlTIHmRJ2m9PmtfFATjPADdPqu8NE8UY1v/6DCQ3Sxoy49dtqN5RPOBw4keXE5I2OK5OrfGbT4LaYmiq+rQmQ9D/ZO2Vi3n2k688n8j1LsCZtEjWZ2u2BVj6N1QPInm4i7a9Etov9wtiPFiPIzKb+iQD9j80+Nv6aK7Be+GzpZxH7bchhpsrUjmpkc7P+pxG2+H4VrZo+hZx/91WdeOUL2MIKQGlJTlYK/OQHLquV2oJ85Mr67RrbLzM2XhgqKBm6c9JqkXa4jrZasr7e6yTUVzMFx2OCLGi/Ewgr+ho9Wh+DHqTp5siXMFFa3c1ekTLcOW21CDolm8463f03MBXOmx/jjaWPRI1/UZ/MxFk0h3O/o4ncjGW+PnOZzo0pbEhO1Azdu9kLjdS3YRdORRybm0o8v6Zlecn4/avLdsgsYve/yMRclpJ4NLn5S0688u27OwT58TxHhg0L+hq35HT0/anHJXT1yivejxsP0jnttQkzsFnR9HDx/kAyQreqx/d8kO3jSDn3lHSZuWdVhPfP0rySY1OJaYsK2VKMLQe6vkPHoSOrsdu9kbFefnxYr3xYsUD0sGXKZ6+IyrCuq83cH74/xFf5d8nm1dtqlsdbO3HZKI8WI8jNhv6OhgxXn7SWKsvV3w3kMjnttQkxWhePLHvfn/f91j/bNKktDbM/y5y1YU63SCySPh35FZ8xHQi9sJydqTPmz3UmKieMEugmR7Ss6jkz3UWbX8atUqlmUTTvY6YWzRhZ4THby/bEWUmz206WioZ0JrEOOBmfwNHcWBnLLHwx4nDMCsC68vGhEfFfu4y/YMU25DTYpWAokrcdzPD55eH3vaVbJzv5jhzz2npF0fdXiCTj97+YFDiR4sTUzWzvZh2/cSt+0LGdKVzYPzfs3xerpsL3nP8lC8euaNGj7jldD9HT1vht6udHbyg/tHhyNivBgPI/YbOjpScc5+2+Z37jcF8T9O0bJqDHIb+pyw/pH/d08N9V8r2blLh+CzF02idayD958KnS3nB2U+SUzW6p5wfVbJD0VfyNC9qZL40usdKmcqzs+ylUS+D71f+CiyqOC7I/45dUnZ8yXtio+Nze6yTatK6tzpkESMF+NhxH5DLyrJJabLyoL3xBgcFzNqvRvofujtQsuw5TbUmLAWrWzwMj9opnqsf3Go/xbwOhVNpJV6BXFN6Hw5P+j0h1G/vxQ3Jm73leMckq0vOY9O9SFmVa3gsagkxj+sIb5/GbpfkXN56M/dCYckk4jxYjyMwW/oaF/FOftb0+vioO/WfFDlZUFc/rim9gxLbkONNlQcZLtrqH9nSd0nhuTzFy2JezHxC+Bm/votDiNqCCjPEpK1G33Y9snERPEXuwmSlU322MscPasqzs/POkwk65jH4G5BvUcS3/t1xWfZ0GV7pkoSyv85HBHjxXgYsd/Q0a2KbcR4G+cminOCtQ4A3c3/fc2Y5jbU6HAon5Bqdg31nwr1Lj1Xt6Lb0v7s4GQ45RCiBusTk7Vva97uglA+KV1dP9BgEl0NxVcLe1lkYH/JuRl/ZJbNS3Cz5D2revx8ZUtkpy7AUDaHyfPQ/dXLslXEvnM4IsaL8TBiv6FXJZ67scSVy+JcRbtriO+jkNtQo7JE8Zua6v8l1D/JVJ1OhOL5CqrE5Wnj7bR3HKTU5NAMJWuHE7f7m10Eycrm6Oh1edRbHQ52rCx5fR0red4IxY+ZpCTAa0J/Js+97kcuYrwYD2PyG7pqUuW47Tjv36aszJ2w3IYaLak4yN6oaRt/l9Q/Z0j6oOhEe1nx+jj4EweB4uRZbzmEqMnvCclaL1fMi6wNaZNKxtestosg2dZQ/+3OZXcWxCtni0reU7aS57EeP9/20Nuz/Xsqvm/2dtmmTSX1vaz5exPEeGAQv6GrJlX+cAY+87DkNtSoLFH8tcZtlM2APizK5jQqu91tegLATx0+1GR+YsJ2oeYg9jCkXTH80i6CjhwtOZeW91DnzyV17q94z48l79nWQzvinT93Q/n8BSnOVnzfbOqiTfEHdNmVxYsOR8R4MR5G8Dd01SDyygnObahRWUJW50BH2UE8LMrmPSh6/Gt6Ik7zBFGnHYkJW12TqMUv7XuJ2zxj90DHim4dv9dDfW+XnJ9xfruq5/R/C/XPF/RN+PcuoNZ6UxdT+F/Fd043VwK/qKjvc4cjYrwYDyP4G/ppxbk7E3e8DktuQ02mSg6yl6HeeXCG/c6gD0rat77ldVubEmAHKHU6nZi01XHbafyx9jhxe+ftGujY4pLz6Yce6iyasPFVnkh1k0h2m0ROr5wSB4R+Lah3fmI9z2pMcN9okzCvckgixovxMIK/oV+G4bmpYphyG2pS9ozepZq38yDUd/WvH8om2Pygpa+e55/F84vU7a+EpO1uDcf5hZC+KsHXdgt0pewugG5X0Cx7lDllbp2XNSaRcU6ROAfgtTwRbq37Vsn74mpGC/uU4MZ2/J7nLUV1/VXx3iUOVcR4YIh/Qw/TYNAw5TbUpGxlg49r3k5ZcNpcQ91x9vT4rOHuHuuomrdgbZ4A/x1MsEf9UpeN/L6Luqfy8+xS6GxpSivvQPfK7gJY2kVd8eJD0VX+1CtxZYlkp3ffLAuN+UdiiVcH3yuo83RJfI2DR2c6SHA7advJrDwK5Suu/FjyvnWhcYHHXUOI8cCw/oauuuu1jpsT4vdH6txDw5TbUJM/QvGtWfNr3s6B0J/VTOKVxjgfQrzd/J0e6pkqaV98LCwuf/sk75cPHDL0wd7EBO5I/gOsbNnm+Oji6vy4jefchfzHTmqCGAPOwTC45SlhXBVN2vqoy7ouF9T1c0h/VLkskexkJcwV+Wd63hRri+bo2dnyvvhd9UtoLGPfmldUPcaS2rZDTds9FtJXW1mVb/9HhypiPDDEv6EvVpzT23usezqGfjOCuQ01mF9yYP3ch22trAhM3Z40MVm8lwfC92toY1H7DuUHea8rr0CVXzpI5pqfSX6al2eh+ip7u3IzT1bn2RXQt3jXzdwcBwvqid8Xc3pMuP7J607xftPAzdamvz/XZhAnJnQ/5e8tmgel6nGWAwnt+q6lX8vujFjR8r74aFi8M+KO7zzEeGDIf0N/VXFuX+myzoVNMTN1tc1hy22oQdlzf5/1aXs/lWzvZBd1fZoHx3jHzvqa2vei4mTb5XChT2b1mOR1U+KVi2t5gPGIBNTr05Lz7psO6yl6lj7ePt3p413flrTn74KBkmbxh+Phijh4J5Q/3jU3TzRfVsToqtW/noTy+XyWNCWx8YLQgvzvn4T2cyrE994NHvlGjAdG4zf0svycLjvfd3ZYX3zKZfoOnzh4NXtEcxtqUOdzf6kHc1mydjTxIIgzi08vk3urTSLbqedhsINjEG0aUHJ4Jf/C3hLcggn9dL6GhG17wY+7bidUfKvieyHetbO7Ke5P5XH2UPjvY1wfFdRbdAEl1rU1j89lj2hNWxSqL8LcD407cqea2hUHtqZXIWsd0Cn7wT0999/GPAH2yDdiPDBKv6EPh+q7CFPyi6X5oEu3AzDDlttQg6KVDf7X522+WzEgdCsfeFne9PrZ+XvigfJ704HzTUgfyUxVNK+CA5R+OxrSbhffnH/hxqvzR/JAdK7pvGhXPOYIg1G2ZPpHie//qiA2vtVjmy52+QPzScXASbv3fpnQrgNdtivG69Y7jl4lfpdudYgixgMj9Bs6Pj51vc13wK/5d8jipvctymPeD+HfCybxIsyeMclt6MGaMHPLTMaRyfNdJH/xIDweGncY9UPrYNDnDhMG4M+QdsWvTHwcI2UCyUu6GvpubcU5+Hub967Kz/XmSRnjBYk6bp1eHP6d/y61XGsTb6tWONnfQdt+7rBdMQkvWjDifpv3xTud3neIIsYDI/gbelFIHxyu+q7p5tHRYc1t6MGXJTt07QDbEO8AinMGxIGh6Ymg45W9l/n/x8QuTjAZb40bxG2v04lt6u120KsliV/e+9rUcyqkzSGwWJdDX33V5jy8nMfZ6SRoWR5vmic//jNPlOpe8Sc+Vn074bsizgWUcqXvbCi+w6HTR6tnhepb4FuXiS9bSvdgmx/KyxyeiPHACP+GjrnD/lB9MabouyFedOlljt1hzm2gNnEW8zi6uUZXMCC7Er/I32lTz7s1JZxAb8pW7tqZn3/x4sf0Eu0v8v/ezf8+JklvDiCRjHe9XmlqQ7zrNs7FFx9n6eTOmSX5532RJ6bxNvReJmWOg1VxTqA/mtoW6423vscrrisT6oiPkD/O3xv79WTC9yeI8cAomZPnFfECya2mmBnLkzw2x0dN40TXCyYgtwEYSWdD2pwdKe4m1PWnLoe+KVs16ImuATFejAfkNgBE8Qp9ym2eZxPr2x/Srhyu0/XQFxt7PIcBMV6MB+Q2AGNuXWJi92FiffH53JTVdE7qeuiLb0vOuU90DYjxYjwgtwEgOpiYKC7toM5fEuqLz/HO1v1Qu7JlX5frGhDjxXhAbgNAdC0hqbvVYZ3bE5PPXbofajW/5Fy7q2tAjBfjAbkNANG8kHa797EO641zFDxOqPdXuwBqta3kXDuta0CMF+MBuQ0AVV+urWVzF3UfTaz7DbsBanOq5DzbpmtAjBfjAbkNAFVfrs0lLuM4q4u630pMFA/ZDVCbOyXn2UJdA2K8GA/IbQCIHiYkcld6qP9GQv0P7AaoxdJQz3wggBgvxgNyG4AxtSqkXdXb18M2diduY4PdAT3bFTxTD4jxgNwGgAp7EpO4d3rYxoLQuAW93TbO2B3Qs8sl59dOXQNivBgPyG0AiC4mJHBPatjO2ZA2Z8F8uwS6tq7i/DLBIojxYjwgtwHg/yeLTLmad7aGbW0IaVcnP7dboOtkqWpukLi88wLdBGK8GA/IbQAm28bE5O3jmrb3IGFb1+0WSLYmK+ezcjvxXI4/DK9m5VxWftR9IMaL8YDcBmDyHEn8kl1a0/a+Ttzem3YNJFmdleNdlqO6D8R4MR6Q2wBMnpsJSVudSzauSEwUj9g1ACDGAwBQryWJSduxmrd7NWGbj7MyZRcBgBgPAEB9diUmiptnaLtWBwAAMR4AgBqlLAP7KjRWI6nT7Kw8T9j2JbsIAMR4AADq8zQhWfutT9s+mZikLh7Rvp09Qm1dmZV5TgcAMV6MH7sYDwDwH++FtNu4j/dp++sSt79vBPpyeVa2hsYqKj+FxhXRGyPQ7oX5/o0J+UdOCQAxXowfqRi/Ku/DuAT3nbxtcYntF6ExGBgH+05nZWdw0QcAyB1NTNR29LENfyZs/34Yjkkm52ZlQ94f+7PyQ2hMkvmipN2nh3jfz8qTx7+b2mswCECMF+NHI8Z/EBoDPf90UOIg0fdZWer0AIDJFQcDHoeZmViy2b7ENnw6BH22JU8KX4bRnhgztuteQXsNBgGI8WL8cMf4BVk5FzobBGotz7LymdMEACbT3g6Shq19bEecK+BVQhsehuG6vTnOFfBh3q6yeRDmD9k+fztUX0U0GAQgxovxwxvjl2TlduhtIKi5nHCqAMBkic++P+kgWTjY5/ZcHOGkZUdJW38fojbG28FPJ/SvwSAAMV6MH84Yvygrd0N9A0H9njMKABgyK0LxI0JV5VHo7/PlWztoy7BNNLm5pJ3fDEHb5uRJ/vPEvjUYBCDGi/HDGeOvhPoHgqbLx04dABhfcbWJb0P5RIjtSrzKeCCvp25x4sjHHbQlPiv/xpD0656SNm6Y4XbtCo3b289m5f28j+OPhDvBYBCAGC/Gj1KML3rs73r+92vDf5e5jxeC1mfli/w1KX0eF5NY6DQCgPHxVlYuZOWvUO8VpHinyeWsnKmxrUe6aMeNvA27Z7CPzxe060WY2ZVRTuT7fXXBv+0IBoMAxHgxflRifJx36Wn4751cWzp4f7wglDLP0NdOKQAYH5tC/24pni51Wd1DGy7MYB8/K2jPxRne71VX9xYEg0EAYrwYPyoxvnkgLd7xu7yLOuLk3D+36ed499aU0woAoL13ShKqvUPeboNBADD8MT4O4kw/+hf/u6aHuuLjY+0eG3vPbgcAaO+LkmRq9ZC322AQAAx/jG+es6iOybXjnFCvKvKAL+12AID2im65fjQC7TYYBADDH+Ov5tv9M9T3CNfpijzgB7sdAKBaTMpejmgiZTAIAIY7xs9v2u7WGuvdUJEHnLfrAQC6S6Z2jEDbDQYBwHDH+G3h31XV6hQHusoeFTMYBADQxjclidTCEWi7wSAAGO4YfzTf5sd9qPvPks93xq4HAKh2rSCJujEibTcYBADDHeNjTI536vRjufeLJXnAd3Y9AEC5uaH4FusjI9J+g0EAMJ4xPsWFkjxgu90PAFBuW0kStWlE2m8wCADGM8anuFTyGZfa/QAA5Y4XJFBx1ZFZCe+NidbBrFzPyousPA+NW8+/DP25FbyIwSAAGM8Yn+KPMLqPugMAzJjbBUnU5TbvmZOVb0PxUrXNdQwiWTQYBADjGeNTvCho3xd2PQBAucUlSd6+ive8lZU7FQlic9k9gM9gMAgAxjPGt7MwFN/5tMjuBwAot6MkwXu75PVbsvIsMUmM5fcBfAaDQQAwnjG+naI5kY7Z9QAA1c4UJFFPSl67s+k1d7PyWVbmhcZt4rtKEsXnA/gMBoMAYDxjfDsnw+t3BZk4GgCgjb8KkruzBa/7sOnfD2dldsFrihLFlwP4DAaDAGA8Y3yVOFD1qKVNh+x2AIBqq0LaIMqm8O8VwO0VCVlRXfcH8DkMBgHAeMb4Klta2nMvNCa/BgCgwuclyV3z7dVrQmP+gKdZeb+iruUldZ0bwOcwGAQA4xnjq1xtac97djsAQHvnCxK7203/HlfieBAaVwvXt6lrZ0miOIilXQ0GAcB4xvgy61ractguBwBoL97yXbRiyPGm11zJ/25jQn1nSxLF9QP4LAaDAGA8Y3yZ/4X/rmo2y24HAGhvXUlitzX/94P5n3cn1vc4FK8yMjWAz2IwCADGM8YX+bSpHXEC6cV2OQBAmv0Fid2r0FhBZDqJPJVY1zslSedPA/osBoMAYDxjfKtloTHH0fSA1Dt2NwBAuisFiV2ciHFeaKwOciukr8jxVUmi+PmAPovBIAAYzxjfLN6J9HtTG7bY1QAA6eJz9S8LErsDWTmZlRdZWd1j0hnLqgF9HoNBADCeMb7Zkabtf2xXAwB0ZmNJYncgdL46SEw6XxXUdWeAn8dgEACMZ4yf9mEYjlXMAABG1neheC6Bu1n5o8O6tpYknUcG+HkMBgHAeMb46N3QmB8obvuQXQwA0J3rJcldTBZXd1jX8ZK61g3w8xgMAoDxjPHxcbTp1cyO270AAN2ZH8oHT050Ud+dgnoeDfgzGQwCgPGL8Uuz8jDf7o92LwBA97aVJIkv86SrEytK6hr0lTuDQQAwXjF+cVbu5du8aNcCAPTmZElyd7KLuj4tqev9AX8mg0EAMD4xfmFWbubbi6uZzbJrAQB6c6ckuVvTRV3nC+p5PAOfyWAQAIxHjI+Puv2Rb++3rMyzWwEAerOsJEm83kVdU+HflT2ayw8z8LkMBgEgxo9+jJ+Tlav5tm5kZYHdCgDQu10lieIXXdT1XkldO2bgcxkMAkCMH+0YHx8F+yXfTpwraFHN9Z8Ng3+MHQBgKJwtSe6WdlHXoZK6Fs7A5zIYBIAYP9ox/qd8Gw+7bHOVT/K6VzpMAIBJ9KggsbvWZV2/FdR1s+S18db1OHnlnD59LoNBAIjxoxvjz4R/l62ve8DmzdB45O2aQwQAmERvheIBk31d1DU3K68K6vq+4LVx4sf43P+trMzu02czGASAGD+aMf5EXv/fWXm75n5ZnZW/8vo/cZgAAJNoT6hvhZGtJXVtL3jtpay8CI0rc/0wFQwGASDGj2KMP5zXHe/cWV9TX8RBqTjn0Xd526brn+MwAQAm0U8Fid2jHpO31rKq5XXH8r//rI+fa3EoHwz62G4HQIwfyhh/sCJ+111OOEQAgEkU7555GepbIvZySbLVbHryybN9/mw7KpK/w3Y9AGL80MX4PWFwA0GxrHOYAACTaH2od4nYFyX1xWf952fleP7n66Ex90A/Xa1I/m7b9QCI8UMV4z8Ogx0IuuUQAQAmVdmt2N0uEfsqIfm6FxqPcPXTdwntiBNeTjkEABDjZzzGbwuDHQiK5QuHCAAwqYrunrnZQ3032yRed7OypObPEG/x/iA0Jrb8Nk9EUxPB+NrDeRIa64hXUec5LAAQ4wcW4zeF4sfZ+lniwNYihwgAMIlmheKrfMd6qHN3ReJ1PisLav4MC/uQIB53aAAgxg8sxl8Og78r6CeHCABAvfZl5WFozC0Q/xsnkXxXtwCAGA+Ml/8Dub/7Qt7Qwu0AAAIKdEVYdE1hdGhNTAA8bWF0aCB4bWxucz0iaHR0cDovL3d3dy53My5vcmcvMTk5OC9NYXRoL01hdGhNTCI+PG1zdHlsZSBtYXRoc2l6ZT0iMTZweCI+PG1zdWI+PG1pPlY8L21pPjxtcm93PjxtaT5yPC9taT48bWk+YzwvbWk+PG1pPnY8L21pPjwvbXJvdz48L21zdWI+PG1vPj08L21vPjxtZnJhYz48bXN1Yj48bWk+UjwvbWk+PG1pPmY8L21pPjwvbXN1Yj48bXN1Yj48bWk+UjwvbWk+PG1yb3c+PG1pPmg8L21pPjxtbj4xPC9tbj48L21yb3c+PC9tc3ViPjwvbWZyYWM+PG1zdWI+PG1pPlY8L21pPjxtcm93PjxtaT5wPC9taT48bWk+YTwvbWk+PG1pPmQ8L21pPjwvbXJvdz48L21zdWI+PG1vPis8L21vPjxtZnJhYz48bXN1Yj48bWk+UjwvbWk+PG1pPmY8L21pPjwvbXN1Yj48bXN1Yj48bWk+UjwvbWk+PG1yb3c+PG1pPmg8L21pPjxtbj4yPC9tbj48L21yb3c+PC9tc3ViPjwvbWZyYWM+PG1zdWI+PG1pPlY8L21pPjxtcm93PjxtaT5yPC9taT48bWk+ZTwvbWk+PG1pPnA8L21pPjwvbXJvdz48L21zdWI+PC9tc3R5bGU+PC9tYXRoPsU5owcAAAAASUVORK5CYII=\&quot;,\&quot;slideId\&quot;:261,\&quot;accessibleText\&quot;:\&quot;V subscript r c v end subscript equals R subscript f over R subscript h 1 end subscript V subscript p a d end subscript plus R subscript f over R subscript h 2 end subscript V subscript r e p end subscript\&quot;,\&quot;imageHeight\&quot;:45.6}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87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High-Speed Wireline Link Optimization</vt:lpstr>
      <vt:lpstr>Current block diagram</vt:lpstr>
      <vt:lpstr>Hybrid circuit for near-end echo cancellation</vt:lpstr>
      <vt:lpstr>Proposed block diagram</vt:lpstr>
      <vt:lpstr>Current Code Flow</vt:lpstr>
      <vt:lpstr>PowerPoint Presentation</vt:lpstr>
      <vt:lpstr>Proposed Code Flow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Satvick Acharya</dc:creator>
  <cp:lastModifiedBy>Satvick Acharya</cp:lastModifiedBy>
  <cp:revision>32</cp:revision>
  <dcterms:created xsi:type="dcterms:W3CDTF">2025-09-26T15:14:25Z</dcterms:created>
  <dcterms:modified xsi:type="dcterms:W3CDTF">2025-09-27T22:10:37Z</dcterms:modified>
</cp:coreProperties>
</file>