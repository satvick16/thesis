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59" r:id="rId3"/>
    <p:sldId id="267" r:id="rId4"/>
    <p:sldId id="260" r:id="rId5"/>
    <p:sldId id="264" r:id="rId6"/>
    <p:sldId id="261" r:id="rId7"/>
    <p:sldId id="263" r:id="rId8"/>
    <p:sldId id="265" r:id="rId9"/>
    <p:sldId id="269" r:id="rId10"/>
    <p:sldId id="262" r:id="rId11"/>
    <p:sldId id="266" r:id="rId12"/>
    <p:sldId id="272" r:id="rId13"/>
    <p:sldId id="270" r:id="rId14"/>
    <p:sldId id="273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116F5-94CC-448D-A83C-AABEB2CDA393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F0825-8174-4A37-BDE8-39A26FFFE5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8732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45575-D17D-4C7D-B623-51B9547944A0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1325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E37F6-9C01-7ED3-964B-F57D3A62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DE76C-29D9-24BF-2288-7CDE4B07B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06EBF-85E7-3C94-698D-B06752D62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1D9BB-03A0-7D40-E6A6-82073E334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45575-D17D-4C7D-B623-51B9547944A0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8825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45575-D17D-4C7D-B623-51B9547944A0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9046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57FDC-960D-8A4D-283F-667ADB169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ED8EB-BAB9-4FFC-576F-0BBF7888C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2FDA2-6708-1D7D-67AF-1E2259F49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356D4-57D7-E8C6-AFAE-FDA95ACE3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45575-D17D-4C7D-B623-51B9547944A0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7173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BF93F-F084-2F62-016B-40CC69D0E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DE111-B685-F79B-D44C-13671C3EA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80108-C805-B4C9-3F4D-7DE75E90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F496E-1687-49CC-B9D7-A323139E0ECD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38B40-E994-48CC-7437-B6811504E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814D3-F894-4740-3674-AAF9FD29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BF99-E72D-4CCE-8BBA-6F5F54A3B3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588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1D2BE-2E7D-F262-B8BF-30E962084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862B3-2039-5190-0AF9-E7009E1C3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1DD1C-340E-CA78-81A3-CF1C1E151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F496E-1687-49CC-B9D7-A323139E0ECD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21B43-EC3A-7844-07DF-D3AD4DE8B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5AFC9-A7F7-BE20-0728-5C4657CC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BF99-E72D-4CCE-8BBA-6F5F54A3B3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7927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D0D7-53C8-7E14-DC8C-A3453E03F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D2672-6174-B150-8FD9-7425F872F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BF852-9EEF-F8D9-CDDF-119B43633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F496E-1687-49CC-B9D7-A323139E0ECD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ADDD1-3BEE-BF91-B03F-0008CBC1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6F50C-2B4A-EF8E-C390-8692FCBA5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BF99-E72D-4CCE-8BBA-6F5F54A3B3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610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6715-FDF1-5FFA-2275-B732110F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5026-4399-F0A9-9BC8-9137DDB9F5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8A7FA-6F8E-A628-A84D-85616B477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330A6-4ED7-A680-97F6-59D37BA7D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F496E-1687-49CC-B9D7-A323139E0ECD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FDF79-A3AD-4263-064C-5A44E3086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F5BCA-3819-D0C4-5DBD-C2A1F030C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BF99-E72D-4CCE-8BBA-6F5F54A3B3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839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D3253-AA42-DC8A-E50A-D8F2C049C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4E5F3-3483-EC86-07EC-600B19C16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3E7FA-4DD1-C3BF-8CB5-6B3AF957B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259071-2D29-17FB-EE2F-0EB72F1024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8DA740-D9B4-2FDC-F98B-DD2F9E23A7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77F66F-EFFA-920C-A809-DD73934DB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F496E-1687-49CC-B9D7-A323139E0ECD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15020C-C5BE-022F-8F40-769AE7089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82FE4E-D12D-4573-F8AA-0A44B5BE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BF99-E72D-4CCE-8BBA-6F5F54A3B3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0563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6A2E-DA98-5CB1-DE0D-279E4BC7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782BAE-D57F-2127-224C-31D973EF7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F496E-1687-49CC-B9D7-A323139E0ECD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4E1C84-F335-1BF0-B585-ACA60EB5A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170BF-6279-1A9B-9BF6-1919F9BE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BF99-E72D-4CCE-8BBA-6F5F54A3B3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9390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A06FD2-8E2C-5DEF-E517-E61C3E18F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F496E-1687-49CC-B9D7-A323139E0ECD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6B1BD0-5A41-D3DF-46F3-D5C7FB3A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9834E-B61E-E599-97FE-8A6D39362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BF99-E72D-4CCE-8BBA-6F5F54A3B3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1071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E26C6-9B7D-F91E-5A04-541BB799D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42B9A-E787-5AB4-DFDB-B7598360B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05253-902A-2E8A-455F-9DAB9BB0E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17592-A756-07D2-7C65-E57403E47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F496E-1687-49CC-B9D7-A323139E0ECD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655A7-2813-17FC-4E61-3E08BFED4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22ECC-EB56-18AD-CB48-67E34596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BF99-E72D-4CCE-8BBA-6F5F54A3B3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3408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03FA-946E-593F-8991-66E448731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7FBB07-ED53-15D5-5293-D9A710128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CC55B-A606-A691-5AB6-4F4057184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346B3-E7AC-4CBB-EE2E-7631CA243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F496E-1687-49CC-B9D7-A323139E0ECD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BB013-AF4E-21F5-1B8E-D3AE29892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B9524-DD9E-85A7-39D0-3AE25BADA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BF99-E72D-4CCE-8BBA-6F5F54A3B3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1182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1EDF-44F7-22AB-7FD9-DD211F1EB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A0103-90C8-0411-42E3-132C079DD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F0FFF-C454-8CC1-4529-92D8A2C0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F496E-1687-49CC-B9D7-A323139E0ECD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91E29-A620-C67E-D3C7-70A70E55B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1FB05-2107-B248-5C78-8FD4A8F7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BF99-E72D-4CCE-8BBA-6F5F54A3B3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107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FBDFA-3923-5E3D-B103-7EC07CE8CD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3203F-F679-FA76-0CD6-F548F44E5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C8C6F-563C-C6E9-1AB0-39207025D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F496E-1687-49CC-B9D7-A323139E0ECD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B5E73-9047-8AB7-D85E-11173D7F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4D1BE-A2FC-E7AA-049A-83853AE1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BF99-E72D-4CCE-8BBA-6F5F54A3B3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482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AE8306-61BF-EBC5-D422-A02D555BE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E924D-912F-5818-5814-9F03ED6A1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78A3C-4749-F724-DB48-5DFF8010C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F496E-1687-49CC-B9D7-A323139E0ECD}" type="datetimeFigureOut">
              <a:rPr lang="en-CA" smtClean="0"/>
              <a:t>2026-01-13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BCFDF-8F42-0D88-8C27-3860D93E6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20FA-390F-6E99-E30C-985EA5279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EBF99-E72D-4CCE-8BBA-6F5F54A3B3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4441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883E-034D-CF9A-8482-E6BA15F8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Full circuit, now with TIA</a:t>
            </a:r>
          </a:p>
        </p:txBody>
      </p:sp>
      <p:pic>
        <p:nvPicPr>
          <p:cNvPr id="5" name="Picture 4" descr="A computer screen shot of a circuit&#10;&#10;AI-generated content may be incorrect.">
            <a:extLst>
              <a:ext uri="{FF2B5EF4-FFF2-40B4-BE49-F238E27FC236}">
                <a16:creationId xmlns:a16="http://schemas.microsoft.com/office/drawing/2014/main" id="{534A2D95-C4D5-CE71-DAE5-975A5B0FD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988" y="1886762"/>
            <a:ext cx="7153741" cy="46061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442224B-0E52-E8A4-0B95-286699477E21}"/>
              </a:ext>
            </a:extLst>
          </p:cNvPr>
          <p:cNvSpPr/>
          <p:nvPr/>
        </p:nvSpPr>
        <p:spPr>
          <a:xfrm>
            <a:off x="9082216" y="4411362"/>
            <a:ext cx="1680519" cy="1828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B6DD8B-271F-294F-6B57-F66BAD72E5F0}"/>
              </a:ext>
            </a:extLst>
          </p:cNvPr>
          <p:cNvSpPr/>
          <p:nvPr/>
        </p:nvSpPr>
        <p:spPr>
          <a:xfrm>
            <a:off x="8554995" y="2870886"/>
            <a:ext cx="1157416" cy="14292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D6575-8505-9518-1E3A-26FDC5BC50B2}"/>
              </a:ext>
            </a:extLst>
          </p:cNvPr>
          <p:cNvSpPr/>
          <p:nvPr/>
        </p:nvSpPr>
        <p:spPr>
          <a:xfrm>
            <a:off x="7315200" y="1930011"/>
            <a:ext cx="1054442" cy="14292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FB8EDC-B287-8AFD-E2D1-BCF0C8A2C294}"/>
              </a:ext>
            </a:extLst>
          </p:cNvPr>
          <p:cNvSpPr txBox="1"/>
          <p:nvPr/>
        </p:nvSpPr>
        <p:spPr>
          <a:xfrm>
            <a:off x="6034721" y="2985526"/>
            <a:ext cx="1280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Main driver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765040-CA78-BCD9-9E85-3B8F6C01A780}"/>
              </a:ext>
            </a:extLst>
          </p:cNvPr>
          <p:cNvSpPr txBox="1"/>
          <p:nvPr/>
        </p:nvSpPr>
        <p:spPr>
          <a:xfrm>
            <a:off x="7027379" y="3881391"/>
            <a:ext cx="1542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Replica driver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140A2E-56C1-2F9D-CE5C-47A854495178}"/>
              </a:ext>
            </a:extLst>
          </p:cNvPr>
          <p:cNvSpPr txBox="1"/>
          <p:nvPr/>
        </p:nvSpPr>
        <p:spPr>
          <a:xfrm>
            <a:off x="7130954" y="5583065"/>
            <a:ext cx="200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Transimpedance amplifier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DB068F-7428-9E5B-B0DF-0633274F05FE}"/>
              </a:ext>
            </a:extLst>
          </p:cNvPr>
          <p:cNvSpPr txBox="1"/>
          <p:nvPr/>
        </p:nvSpPr>
        <p:spPr>
          <a:xfrm>
            <a:off x="10762735" y="2114377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Channel</a:t>
            </a:r>
          </a:p>
        </p:txBody>
      </p:sp>
      <p:pic>
        <p:nvPicPr>
          <p:cNvPr id="16" name="Picture 15" descr="A diagram of a hybrid circuit&#10;&#10;AI-generated content may be incorrect.">
            <a:extLst>
              <a:ext uri="{FF2B5EF4-FFF2-40B4-BE49-F238E27FC236}">
                <a16:creationId xmlns:a16="http://schemas.microsoft.com/office/drawing/2014/main" id="{1FDBDE1A-DC2E-B2D7-B600-AD876F298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50" y="2746579"/>
            <a:ext cx="3591426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37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4369-C3DC-CC61-2D3F-E4CC19DB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Result: TIA output == inbound data as expected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FB6A7D76-F215-2DC5-9D39-F836E077A79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 l="1312" t="1429" r="58021" b="6732"/>
          <a:stretch>
            <a:fillRect/>
          </a:stretch>
        </p:blipFill>
        <p:spPr>
          <a:xfrm>
            <a:off x="826701" y="2122563"/>
            <a:ext cx="2658762" cy="4394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A4CF40-527B-71D9-C986-C7FC50726F58}"/>
              </a:ext>
            </a:extLst>
          </p:cNvPr>
          <p:cNvSpPr txBox="1"/>
          <p:nvPr/>
        </p:nvSpPr>
        <p:spPr>
          <a:xfrm>
            <a:off x="1852689" y="1690688"/>
            <a:ext cx="861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/>
              <a:t>Paper</a:t>
            </a:r>
          </a:p>
        </p:txBody>
      </p:sp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68C1FDD-578A-C953-6421-D4B3530B65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53"/>
          <a:stretch>
            <a:fillRect/>
          </a:stretch>
        </p:blipFill>
        <p:spPr>
          <a:xfrm>
            <a:off x="4955059" y="2313061"/>
            <a:ext cx="6976127" cy="41798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5A6E6D-3DA8-A664-3F5B-F40C538C075F}"/>
              </a:ext>
            </a:extLst>
          </p:cNvPr>
          <p:cNvSpPr txBox="1"/>
          <p:nvPr/>
        </p:nvSpPr>
        <p:spPr>
          <a:xfrm>
            <a:off x="6388444" y="3047029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Hybrid 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5F164D-D4A3-F4F2-15AF-3B481066A535}"/>
              </a:ext>
            </a:extLst>
          </p:cNvPr>
          <p:cNvSpPr txBox="1"/>
          <p:nvPr/>
        </p:nvSpPr>
        <p:spPr>
          <a:xfrm>
            <a:off x="9111048" y="3847589"/>
            <a:ext cx="1693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Outbound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CEAFFD-CB11-6C2E-A679-44DA6EF66BE3}"/>
              </a:ext>
            </a:extLst>
          </p:cNvPr>
          <p:cNvSpPr txBox="1"/>
          <p:nvPr/>
        </p:nvSpPr>
        <p:spPr>
          <a:xfrm>
            <a:off x="9204022" y="5483717"/>
            <a:ext cx="1507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Inbound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15CCA7-A4B7-0ECA-486B-78AFC21BD0ED}"/>
              </a:ext>
            </a:extLst>
          </p:cNvPr>
          <p:cNvSpPr txBox="1"/>
          <p:nvPr/>
        </p:nvSpPr>
        <p:spPr>
          <a:xfrm>
            <a:off x="6564774" y="4585286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TIA output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A3C0D1-185F-996F-618A-9D15AF3ED84D}"/>
              </a:ext>
            </a:extLst>
          </p:cNvPr>
          <p:cNvSpPr txBox="1"/>
          <p:nvPr/>
        </p:nvSpPr>
        <p:spPr>
          <a:xfrm>
            <a:off x="7498891" y="1690688"/>
            <a:ext cx="13917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/>
              <a:t>My results</a:t>
            </a:r>
          </a:p>
        </p:txBody>
      </p:sp>
    </p:spTree>
    <p:extLst>
      <p:ext uri="{BB962C8B-B14F-4D97-AF65-F5344CB8AC3E}">
        <p14:creationId xmlns:p14="http://schemas.microsoft.com/office/powerpoint/2010/main" val="2245706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98453-7758-B9DE-D9D2-3D42E730C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E8738-5A9B-AE4A-5EBD-D646D3B1D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In both the paper and my simulation, the TIA input signal is 100 mV peak-to-peak</a:t>
            </a:r>
          </a:p>
          <a:p>
            <a:r>
              <a:rPr lang="en-CA" dirty="0"/>
              <a:t>In the paper, the TIA had an open-loop gain of 5, so my output peak-to-peak swing of roughly 400-500 mV makes sense</a:t>
            </a:r>
          </a:p>
          <a:p>
            <a:endParaRPr lang="en-CA" dirty="0"/>
          </a:p>
          <a:p>
            <a:r>
              <a:rPr lang="en-CA" dirty="0"/>
              <a:t>Paper: Rf=1.2k</a:t>
            </a:r>
          </a:p>
          <a:p>
            <a:r>
              <a:rPr lang="en-CA" dirty="0"/>
              <a:t>Mine: Rf=6k</a:t>
            </a:r>
          </a:p>
        </p:txBody>
      </p:sp>
    </p:spTree>
    <p:extLst>
      <p:ext uri="{BB962C8B-B14F-4D97-AF65-F5344CB8AC3E}">
        <p14:creationId xmlns:p14="http://schemas.microsoft.com/office/powerpoint/2010/main" val="609613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B766-D08A-B4C4-A00E-9A2DD572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Extension to PAM3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E5DE6-271D-AE32-B479-4793FFD23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933303" cy="4351338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CMOS-inverter-based drivers are no longer suitable</a:t>
            </a:r>
          </a:p>
          <a:p>
            <a:r>
              <a:rPr lang="en-CA" dirty="0"/>
              <a:t>I used the PAM3 output driver from this paper:</a:t>
            </a:r>
          </a:p>
          <a:p>
            <a:pPr lvl="1"/>
            <a:r>
              <a:rPr lang="en-CA" dirty="0"/>
              <a:t>H. Park, J. Song, J. Sim, Y. Choi, J. Choi, J. Yoo, and C. Kim, </a:t>
            </a:r>
            <a:r>
              <a:rPr lang="en-CA" b="1" dirty="0"/>
              <a:t>“30-Gb/s 1.11-pJ/bit single-ended PAM-3 transceiver for high-speed memory links,”</a:t>
            </a:r>
            <a:r>
              <a:rPr lang="en-CA" dirty="0"/>
              <a:t> </a:t>
            </a:r>
            <a:r>
              <a:rPr lang="en-CA" i="1" dirty="0"/>
              <a:t>IEEE Journal of Solid-State Circuits</a:t>
            </a:r>
            <a:r>
              <a:rPr lang="en-CA" dirty="0"/>
              <a:t>, vol. 56, no. 2, pp. 581–590, 2020.</a:t>
            </a:r>
          </a:p>
          <a:p>
            <a:r>
              <a:rPr lang="en-CA" dirty="0"/>
              <a:t>I kept the main driver and replica driver output resistance the same, so the other resistances need not change</a:t>
            </a:r>
          </a:p>
          <a:p>
            <a:pPr lvl="1"/>
            <a:r>
              <a:rPr lang="en-CA" dirty="0" err="1"/>
              <a:t>Rdrv</a:t>
            </a:r>
            <a:r>
              <a:rPr lang="en-CA" dirty="0"/>
              <a:t> = 55, </a:t>
            </a:r>
            <a:r>
              <a:rPr lang="en-CA" dirty="0" err="1"/>
              <a:t>Rrep</a:t>
            </a:r>
            <a:r>
              <a:rPr lang="en-CA" dirty="0"/>
              <a:t> = 275</a:t>
            </a:r>
          </a:p>
        </p:txBody>
      </p:sp>
      <p:pic>
        <p:nvPicPr>
          <p:cNvPr id="5" name="Picture 4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614FC4C6-8D6D-B297-09AF-DDC49321F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899" y="113837"/>
            <a:ext cx="4124901" cy="3315163"/>
          </a:xfrm>
          <a:prstGeom prst="rect">
            <a:avLst/>
          </a:prstGeom>
        </p:spPr>
      </p:pic>
      <p:pic>
        <p:nvPicPr>
          <p:cNvPr id="7" name="Picture 6" descr="A computer screen shot of a circuit&#10;&#10;AI-generated content may be incorrect.">
            <a:extLst>
              <a:ext uri="{FF2B5EF4-FFF2-40B4-BE49-F238E27FC236}">
                <a16:creationId xmlns:a16="http://schemas.microsoft.com/office/drawing/2014/main" id="{7A77AD9A-A1DF-8017-E7BF-8330AB104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373" y="3476632"/>
            <a:ext cx="4134427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2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896AF-0381-8EEE-F887-2B1BD9D4C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PAM3 output driver operation (from the paper)</a:t>
            </a:r>
          </a:p>
        </p:txBody>
      </p:sp>
      <p:pic>
        <p:nvPicPr>
          <p:cNvPr id="5" name="Content Placeholder 4" descr="A diagram of electrical circuits&#10;&#10;AI-generated content may be incorrect.">
            <a:extLst>
              <a:ext uri="{FF2B5EF4-FFF2-40B4-BE49-F238E27FC236}">
                <a16:creationId xmlns:a16="http://schemas.microsoft.com/office/drawing/2014/main" id="{D3E9BCE3-6A2D-0984-F19B-20DCB3DCB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3003" y="643466"/>
            <a:ext cx="6709325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47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FB3E9-DAF1-DDA0-28F6-B5B97FF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Full circuit</a:t>
            </a:r>
          </a:p>
        </p:txBody>
      </p:sp>
      <p:pic>
        <p:nvPicPr>
          <p:cNvPr id="5" name="Picture 4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D4E42E63-5489-63F5-4BB3-1F2169324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503" y="365125"/>
            <a:ext cx="4233723" cy="6089138"/>
          </a:xfrm>
          <a:prstGeom prst="rect">
            <a:avLst/>
          </a:prstGeom>
        </p:spPr>
      </p:pic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80160D60-BC41-1BA4-C09D-573FA889E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44417"/>
            <a:ext cx="3879880" cy="19399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66B248-BA83-54DA-CE6E-C3FBBF58E772}"/>
              </a:ext>
            </a:extLst>
          </p:cNvPr>
          <p:cNvSpPr txBox="1"/>
          <p:nvPr/>
        </p:nvSpPr>
        <p:spPr>
          <a:xfrm>
            <a:off x="5441204" y="1666230"/>
            <a:ext cx="1648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/>
              <a:t>Main driver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CBBACD-BAB0-7769-FC4A-AA0277BFEEE6}"/>
              </a:ext>
            </a:extLst>
          </p:cNvPr>
          <p:cNvSpPr txBox="1"/>
          <p:nvPr/>
        </p:nvSpPr>
        <p:spPr>
          <a:xfrm>
            <a:off x="5156262" y="4730106"/>
            <a:ext cx="1996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/>
              <a:t>Replica driver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E146D3-5EE5-F655-CED4-0E08C3B0969F}"/>
              </a:ext>
            </a:extLst>
          </p:cNvPr>
          <p:cNvSpPr/>
          <p:nvPr/>
        </p:nvSpPr>
        <p:spPr>
          <a:xfrm>
            <a:off x="7698658" y="471948"/>
            <a:ext cx="4041058" cy="285022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8F0CEA-61C6-16EE-E38A-D2C808B47183}"/>
              </a:ext>
            </a:extLst>
          </p:cNvPr>
          <p:cNvSpPr/>
          <p:nvPr/>
        </p:nvSpPr>
        <p:spPr>
          <a:xfrm>
            <a:off x="7698658" y="3535823"/>
            <a:ext cx="4041058" cy="285022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7D42CC-01A0-5CE6-7F0E-BFC637C44BD1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7089604" y="1897063"/>
            <a:ext cx="60905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C709BE-3D58-5456-E774-9E4FCFD98CD7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7152321" y="4960938"/>
            <a:ext cx="546337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32BFF04-EE10-19B4-D5A4-F47EDF28F45F}"/>
              </a:ext>
            </a:extLst>
          </p:cNvPr>
          <p:cNvSpPr txBox="1"/>
          <p:nvPr/>
        </p:nvSpPr>
        <p:spPr>
          <a:xfrm>
            <a:off x="8298426" y="916712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80C99D-1441-6A1E-04A4-48987025EDB5}"/>
              </a:ext>
            </a:extLst>
          </p:cNvPr>
          <p:cNvSpPr txBox="1"/>
          <p:nvPr/>
        </p:nvSpPr>
        <p:spPr>
          <a:xfrm>
            <a:off x="8347854" y="205772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504B7A-60AF-B020-51EE-A0FC09D1D8C6}"/>
              </a:ext>
            </a:extLst>
          </p:cNvPr>
          <p:cNvSpPr txBox="1"/>
          <p:nvPr/>
        </p:nvSpPr>
        <p:spPr>
          <a:xfrm>
            <a:off x="8298426" y="362246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</a:rPr>
              <a:t>!H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813A5E-B7FF-03E6-473C-C946E1B5BED2}"/>
              </a:ext>
            </a:extLst>
          </p:cNvPr>
          <p:cNvSpPr txBox="1"/>
          <p:nvPr/>
        </p:nvSpPr>
        <p:spPr>
          <a:xfrm>
            <a:off x="8266366" y="5145603"/>
            <a:ext cx="470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</a:rPr>
              <a:t>!L</a:t>
            </a:r>
          </a:p>
        </p:txBody>
      </p:sp>
    </p:spTree>
    <p:extLst>
      <p:ext uri="{BB962C8B-B14F-4D97-AF65-F5344CB8AC3E}">
        <p14:creationId xmlns:p14="http://schemas.microsoft.com/office/powerpoint/2010/main" val="1231440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F099-F241-DDEB-7D81-4728EA92B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F78F9-C3F9-0350-DC6A-B3B3885FC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/>
              <a:t>My PAM3 driver output signal with 300mV peak-to-peak swing (same as the paper)</a:t>
            </a:r>
          </a:p>
        </p:txBody>
      </p:sp>
      <p:pic>
        <p:nvPicPr>
          <p:cNvPr id="9" name="Picture 8" descr="A screen shot of a graph&#10;&#10;AI-generated content may be incorrect.">
            <a:extLst>
              <a:ext uri="{FF2B5EF4-FFF2-40B4-BE49-F238E27FC236}">
                <a16:creationId xmlns:a16="http://schemas.microsoft.com/office/drawing/2014/main" id="{B5E7C933-B78D-6B8C-BBCF-1BC4A7FA1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303" y="1826615"/>
            <a:ext cx="10117394" cy="442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993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8D04A9A1-30D0-E7C8-F423-53F33448C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924" y="1577514"/>
            <a:ext cx="9634151" cy="50414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E60724-15A1-4E70-305F-1CF59B69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2800" dirty="0"/>
              <a:t>Full transceiver function with PAM3: hybrid output matches inbound data, as desired, but with significant distortion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5AD470-0A6F-6820-6A07-C74BA86981B6}"/>
              </a:ext>
            </a:extLst>
          </p:cNvPr>
          <p:cNvSpPr txBox="1"/>
          <p:nvPr/>
        </p:nvSpPr>
        <p:spPr>
          <a:xfrm>
            <a:off x="7234581" y="2249237"/>
            <a:ext cx="1693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Outbound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ED00FF-8D33-9EAB-861A-B33F161A695B}"/>
              </a:ext>
            </a:extLst>
          </p:cNvPr>
          <p:cNvSpPr txBox="1"/>
          <p:nvPr/>
        </p:nvSpPr>
        <p:spPr>
          <a:xfrm>
            <a:off x="3859427" y="4004272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Hybrid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29248A-21F3-DCCB-B23B-CAD6F18A3D67}"/>
              </a:ext>
            </a:extLst>
          </p:cNvPr>
          <p:cNvSpPr txBox="1"/>
          <p:nvPr/>
        </p:nvSpPr>
        <p:spPr>
          <a:xfrm>
            <a:off x="7327555" y="5453598"/>
            <a:ext cx="1507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Inbound data</a:t>
            </a:r>
          </a:p>
        </p:txBody>
      </p:sp>
    </p:spTree>
    <p:extLst>
      <p:ext uri="{BB962C8B-B14F-4D97-AF65-F5344CB8AC3E}">
        <p14:creationId xmlns:p14="http://schemas.microsoft.com/office/powerpoint/2010/main" val="2618278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AFAED-06E1-B83E-64E2-F4A0BC464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A7732830-2365-2879-91B5-20F073EAE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924" y="1577514"/>
            <a:ext cx="9634151" cy="50414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F14BAD-8566-8B16-73A0-07066AAB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4000" dirty="0"/>
              <a:t>Post-cursor ISI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69F82D-2474-1763-75A7-CADABF0E74B9}"/>
              </a:ext>
            </a:extLst>
          </p:cNvPr>
          <p:cNvSpPr txBox="1"/>
          <p:nvPr/>
        </p:nvSpPr>
        <p:spPr>
          <a:xfrm>
            <a:off x="7234581" y="2249237"/>
            <a:ext cx="1693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Outbound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43554-0DEB-2D7B-E2DE-404C519A6455}"/>
              </a:ext>
            </a:extLst>
          </p:cNvPr>
          <p:cNvSpPr txBox="1"/>
          <p:nvPr/>
        </p:nvSpPr>
        <p:spPr>
          <a:xfrm>
            <a:off x="3859427" y="4004272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Hybrid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487CE-6B81-377F-CB6E-D39A2AD6AA6C}"/>
              </a:ext>
            </a:extLst>
          </p:cNvPr>
          <p:cNvSpPr txBox="1"/>
          <p:nvPr/>
        </p:nvSpPr>
        <p:spPr>
          <a:xfrm>
            <a:off x="7327555" y="5453598"/>
            <a:ext cx="1507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Inbound data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F5BF0FE-01BC-C701-9604-0CF7F42B9A53}"/>
              </a:ext>
            </a:extLst>
          </p:cNvPr>
          <p:cNvSpPr/>
          <p:nvPr/>
        </p:nvSpPr>
        <p:spPr>
          <a:xfrm>
            <a:off x="7970108" y="3682314"/>
            <a:ext cx="556054" cy="9752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C87CC76-36C5-2457-BE9F-55AB4C335AB5}"/>
              </a:ext>
            </a:extLst>
          </p:cNvPr>
          <p:cNvSpPr/>
          <p:nvPr/>
        </p:nvSpPr>
        <p:spPr>
          <a:xfrm>
            <a:off x="4384588" y="4663037"/>
            <a:ext cx="768180" cy="15276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2822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A219A-EC85-7FD7-1376-FEF2D939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1-tap TX Feed-Forward Equalization (FFE)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EC2E5-BB84-61F9-1EFF-47C2845F5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2866293" cy="435133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TX FIR equalization should boost high frequency sections during bit transitions</a:t>
            </a:r>
          </a:p>
          <a:p>
            <a:r>
              <a:rPr lang="en-CA" dirty="0"/>
              <a:t>Should help with migration from NRZ to PAM3 by reducing impact of ISI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22973A-A99A-266B-E6C2-4571706E7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329" y="1516929"/>
            <a:ext cx="8051747" cy="38241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90494E-6828-A340-2D41-89CEE5E5A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673" y="5090651"/>
            <a:ext cx="6115904" cy="8097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08F405-AEE1-6F6E-41E0-B84022630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543" y="6057710"/>
            <a:ext cx="5306165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183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B97401-47E4-2A93-9025-42F332D49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507" y="1459903"/>
            <a:ext cx="9694985" cy="50887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55002F-443D-B584-199D-C64EB8E5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Graph with TX FIR equalization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B91907-DAE7-F901-6BEE-497ACBE03A1E}"/>
              </a:ext>
            </a:extLst>
          </p:cNvPr>
          <p:cNvSpPr txBox="1"/>
          <p:nvPr/>
        </p:nvSpPr>
        <p:spPr>
          <a:xfrm>
            <a:off x="7234581" y="2249237"/>
            <a:ext cx="1693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Outbound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445A98-4883-E02C-D08C-FDFAA7FDF225}"/>
              </a:ext>
            </a:extLst>
          </p:cNvPr>
          <p:cNvSpPr txBox="1"/>
          <p:nvPr/>
        </p:nvSpPr>
        <p:spPr>
          <a:xfrm>
            <a:off x="3859427" y="3856787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Hybrid 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726AE2-7377-2619-EEE0-F5882F6E2427}"/>
              </a:ext>
            </a:extLst>
          </p:cNvPr>
          <p:cNvSpPr txBox="1"/>
          <p:nvPr/>
        </p:nvSpPr>
        <p:spPr>
          <a:xfrm>
            <a:off x="7327555" y="5453598"/>
            <a:ext cx="1507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Inbound data</a:t>
            </a:r>
          </a:p>
        </p:txBody>
      </p:sp>
    </p:spTree>
    <p:extLst>
      <p:ext uri="{BB962C8B-B14F-4D97-AF65-F5344CB8AC3E}">
        <p14:creationId xmlns:p14="http://schemas.microsoft.com/office/powerpoint/2010/main" val="1816549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AA26A-B48A-5D16-5B4C-4CC83122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0DFE6C-765F-8440-337B-10C77E71C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507" y="1459903"/>
            <a:ext cx="9694985" cy="50887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A7D1-3EAE-B5D1-EFA6-D7CA4AE9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Graph with TX FIR equalization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CF56DC-EB46-A77C-9D0C-B6D8EAE343F7}"/>
              </a:ext>
            </a:extLst>
          </p:cNvPr>
          <p:cNvSpPr txBox="1"/>
          <p:nvPr/>
        </p:nvSpPr>
        <p:spPr>
          <a:xfrm>
            <a:off x="7234581" y="2249237"/>
            <a:ext cx="1693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Outbound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D2B1C4-1DA9-07FA-373B-F2D930CCD84B}"/>
              </a:ext>
            </a:extLst>
          </p:cNvPr>
          <p:cNvSpPr txBox="1"/>
          <p:nvPr/>
        </p:nvSpPr>
        <p:spPr>
          <a:xfrm>
            <a:off x="3859427" y="3856787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Hybrid 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853E6E-8B53-1351-13DF-7DFEACDF8C6C}"/>
              </a:ext>
            </a:extLst>
          </p:cNvPr>
          <p:cNvSpPr txBox="1"/>
          <p:nvPr/>
        </p:nvSpPr>
        <p:spPr>
          <a:xfrm>
            <a:off x="7327555" y="5453598"/>
            <a:ext cx="1507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Inbound data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283D820-6CFA-42D0-B117-4E3646DBE3DF}"/>
              </a:ext>
            </a:extLst>
          </p:cNvPr>
          <p:cNvSpPr/>
          <p:nvPr/>
        </p:nvSpPr>
        <p:spPr>
          <a:xfrm>
            <a:off x="3716593" y="4916129"/>
            <a:ext cx="265471" cy="2163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75BA41-DBE0-9253-3936-772EB1F1449A}"/>
              </a:ext>
            </a:extLst>
          </p:cNvPr>
          <p:cNvSpPr/>
          <p:nvPr/>
        </p:nvSpPr>
        <p:spPr>
          <a:xfrm>
            <a:off x="3859427" y="2978943"/>
            <a:ext cx="265471" cy="2163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BA97444-79FD-AC80-BEE2-6B56581DE59E}"/>
              </a:ext>
            </a:extLst>
          </p:cNvPr>
          <p:cNvSpPr/>
          <p:nvPr/>
        </p:nvSpPr>
        <p:spPr>
          <a:xfrm>
            <a:off x="5280321" y="4887653"/>
            <a:ext cx="265471" cy="2163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64EECB-4E12-F0D4-06AC-A0947E46AFF0}"/>
              </a:ext>
            </a:extLst>
          </p:cNvPr>
          <p:cNvSpPr/>
          <p:nvPr/>
        </p:nvSpPr>
        <p:spPr>
          <a:xfrm>
            <a:off x="4503506" y="2579240"/>
            <a:ext cx="265471" cy="2163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C5C765B-04DB-9BA5-3AAC-E6303DB13C5F}"/>
              </a:ext>
            </a:extLst>
          </p:cNvPr>
          <p:cNvSpPr/>
          <p:nvPr/>
        </p:nvSpPr>
        <p:spPr>
          <a:xfrm>
            <a:off x="5265838" y="3058622"/>
            <a:ext cx="265471" cy="2163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4277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 shot of a graph&#10;&#10;AI-generated content may be incorrect.">
            <a:extLst>
              <a:ext uri="{FF2B5EF4-FFF2-40B4-BE49-F238E27FC236}">
                <a16:creationId xmlns:a16="http://schemas.microsoft.com/office/drawing/2014/main" id="{E018E0F9-1E76-7197-8067-E50D7FC6D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477" y="0"/>
            <a:ext cx="6333873" cy="33144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8B116C-AB26-1217-F41A-45BC6892D99E}"/>
              </a:ext>
            </a:extLst>
          </p:cNvPr>
          <p:cNvSpPr txBox="1"/>
          <p:nvPr/>
        </p:nvSpPr>
        <p:spPr>
          <a:xfrm>
            <a:off x="8787713" y="404559"/>
            <a:ext cx="1693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Outbound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BFAD59-9F85-56D8-5058-72600B18B351}"/>
              </a:ext>
            </a:extLst>
          </p:cNvPr>
          <p:cNvSpPr txBox="1"/>
          <p:nvPr/>
        </p:nvSpPr>
        <p:spPr>
          <a:xfrm>
            <a:off x="6429782" y="1472566"/>
            <a:ext cx="1553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Hybrid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CD8BF7-03C1-2901-E478-89922F73F690}"/>
              </a:ext>
            </a:extLst>
          </p:cNvPr>
          <p:cNvSpPr txBox="1"/>
          <p:nvPr/>
        </p:nvSpPr>
        <p:spPr>
          <a:xfrm>
            <a:off x="8880687" y="2447871"/>
            <a:ext cx="150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Inbound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E1E5D7-E625-2BA2-4A6C-DD4A967EF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476" y="3543537"/>
            <a:ext cx="6333873" cy="33245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315DAE-538C-5E71-C879-D492A5357427}"/>
              </a:ext>
            </a:extLst>
          </p:cNvPr>
          <p:cNvSpPr txBox="1"/>
          <p:nvPr/>
        </p:nvSpPr>
        <p:spPr>
          <a:xfrm>
            <a:off x="8787713" y="3920437"/>
            <a:ext cx="1693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Outbound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15D80-A157-312F-57C8-580D6C9B41DF}"/>
              </a:ext>
            </a:extLst>
          </p:cNvPr>
          <p:cNvSpPr txBox="1"/>
          <p:nvPr/>
        </p:nvSpPr>
        <p:spPr>
          <a:xfrm>
            <a:off x="6429782" y="4988444"/>
            <a:ext cx="1553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Hybrid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480987-7A2E-DF46-A852-B2477F9D55BA}"/>
              </a:ext>
            </a:extLst>
          </p:cNvPr>
          <p:cNvSpPr txBox="1"/>
          <p:nvPr/>
        </p:nvSpPr>
        <p:spPr>
          <a:xfrm>
            <a:off x="8880687" y="5963749"/>
            <a:ext cx="150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Inbound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725FEC-D341-7D3D-FD83-AA4F32709E0B}"/>
              </a:ext>
            </a:extLst>
          </p:cNvPr>
          <p:cNvSpPr txBox="1"/>
          <p:nvPr/>
        </p:nvSpPr>
        <p:spPr>
          <a:xfrm>
            <a:off x="656493" y="1342934"/>
            <a:ext cx="357347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/>
              <a:t>Before Tx equalization</a:t>
            </a:r>
          </a:p>
          <a:p>
            <a:endParaRPr lang="en-CA" sz="2800" dirty="0"/>
          </a:p>
          <a:p>
            <a:endParaRPr lang="en-CA" sz="2800" dirty="0"/>
          </a:p>
          <a:p>
            <a:endParaRPr lang="en-CA" sz="2800" dirty="0"/>
          </a:p>
          <a:p>
            <a:r>
              <a:rPr lang="en-CA" dirty="0"/>
              <a:t>Slightly improved level separation</a:t>
            </a:r>
          </a:p>
          <a:p>
            <a:endParaRPr lang="en-CA" sz="2800" dirty="0"/>
          </a:p>
          <a:p>
            <a:endParaRPr lang="en-CA" sz="2800" dirty="0"/>
          </a:p>
          <a:p>
            <a:endParaRPr lang="en-CA" sz="2800" dirty="0"/>
          </a:p>
          <a:p>
            <a:endParaRPr lang="en-CA" sz="2800" dirty="0"/>
          </a:p>
          <a:p>
            <a:r>
              <a:rPr lang="en-CA" sz="2800" dirty="0"/>
              <a:t>After Tx equalization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B62A59D-7E5D-53B5-FF09-B6A05AC20136}"/>
              </a:ext>
            </a:extLst>
          </p:cNvPr>
          <p:cNvCxnSpPr>
            <a:cxnSpLocks/>
          </p:cNvCxnSpPr>
          <p:nvPr/>
        </p:nvCxnSpPr>
        <p:spPr>
          <a:xfrm>
            <a:off x="8357419" y="1489958"/>
            <a:ext cx="21236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10100C-6415-EB8A-1AB0-A7A1363A1DA6}"/>
              </a:ext>
            </a:extLst>
          </p:cNvPr>
          <p:cNvCxnSpPr>
            <a:cxnSpLocks/>
          </p:cNvCxnSpPr>
          <p:nvPr/>
        </p:nvCxnSpPr>
        <p:spPr>
          <a:xfrm>
            <a:off x="8357419" y="1723288"/>
            <a:ext cx="21236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ECA236-3729-291D-FDDA-A94E2342285C}"/>
              </a:ext>
            </a:extLst>
          </p:cNvPr>
          <p:cNvCxnSpPr>
            <a:cxnSpLocks/>
          </p:cNvCxnSpPr>
          <p:nvPr/>
        </p:nvCxnSpPr>
        <p:spPr>
          <a:xfrm>
            <a:off x="8499987" y="5124446"/>
            <a:ext cx="21236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38BE36-D981-E369-B5D6-F4530AD925DB}"/>
              </a:ext>
            </a:extLst>
          </p:cNvPr>
          <p:cNvCxnSpPr>
            <a:cxnSpLocks/>
          </p:cNvCxnSpPr>
          <p:nvPr/>
        </p:nvCxnSpPr>
        <p:spPr>
          <a:xfrm>
            <a:off x="8499987" y="5308616"/>
            <a:ext cx="21236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000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A44ED-6D55-2225-CDCD-B46208EDF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25987"/>
            <a:ext cx="5157787" cy="82391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30-Gb/s 1.11-pJ/bit Single-Ended PAM-3 Transceiver for High-Speed Memory Links (</a:t>
            </a:r>
            <a:r>
              <a:rPr lang="en-US" dirty="0">
                <a:solidFill>
                  <a:srgbClr val="FF0000"/>
                </a:solidFill>
              </a:rPr>
              <a:t>JSSC 2021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931B3-64CD-73B2-8DBF-BA73CF22D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049899"/>
            <a:ext cx="5157787" cy="5582114"/>
          </a:xfrm>
        </p:spPr>
        <p:txBody>
          <a:bodyPr>
            <a:normAutofit fontScale="62500" lnSpcReduction="20000"/>
          </a:bodyPr>
          <a:lstStyle/>
          <a:p>
            <a:r>
              <a:rPr lang="en-CA" dirty="0"/>
              <a:t>Driver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Equalization</a:t>
            </a:r>
          </a:p>
          <a:p>
            <a:pPr lvl="1"/>
            <a:r>
              <a:rPr lang="en-CA" dirty="0"/>
              <a:t>Tx: N/A</a:t>
            </a:r>
          </a:p>
          <a:p>
            <a:pPr lvl="1"/>
            <a:r>
              <a:rPr lang="en-CA" dirty="0"/>
              <a:t>Rx: DFE + CTLE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5E01E1-22E3-5A5F-E2CF-20432183B9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5987"/>
            <a:ext cx="5183188" cy="82391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 0.275pJ/b 42Gb/s/pin Clock-Referenced PAM3 Transceiver Tolerant to Supply Noise, Reference Offset and Crosstalk for Chiplets and Short-Reach Memory Interfaces (</a:t>
            </a:r>
            <a:r>
              <a:rPr lang="en-US" dirty="0">
                <a:solidFill>
                  <a:srgbClr val="FF0000"/>
                </a:solidFill>
              </a:rPr>
              <a:t>ISSCC 2025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F904D-E645-E1D3-F911-8B7099ABAD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049899"/>
            <a:ext cx="5183188" cy="5582114"/>
          </a:xfrm>
        </p:spPr>
        <p:txBody>
          <a:bodyPr>
            <a:normAutofit fontScale="62500" lnSpcReduction="20000"/>
          </a:bodyPr>
          <a:lstStyle/>
          <a:p>
            <a:r>
              <a:rPr lang="en-CA" dirty="0"/>
              <a:t>Clock-referenced PAM3</a:t>
            </a:r>
          </a:p>
          <a:p>
            <a:pPr lvl="1"/>
            <a:r>
              <a:rPr lang="en-CA" dirty="0"/>
              <a:t>Transmitter: </a:t>
            </a:r>
            <a:r>
              <a:rPr lang="en-CA" dirty="0" err="1"/>
              <a:t>a_k</a:t>
            </a:r>
            <a:r>
              <a:rPr lang="en-CA" dirty="0"/>
              <a:t> = {-A, 0, A}</a:t>
            </a:r>
          </a:p>
          <a:p>
            <a:pPr lvl="2"/>
            <a:r>
              <a:rPr lang="en-CA" dirty="0"/>
              <a:t>D(t) = </a:t>
            </a:r>
            <a:r>
              <a:rPr lang="en-CA" dirty="0" err="1"/>
              <a:t>a_k</a:t>
            </a:r>
            <a:r>
              <a:rPr lang="en-CA" dirty="0"/>
              <a:t> + n(t)</a:t>
            </a:r>
          </a:p>
          <a:p>
            <a:pPr lvl="2"/>
            <a:r>
              <a:rPr lang="en-CA" dirty="0" err="1"/>
              <a:t>CLK_p</a:t>
            </a:r>
            <a:r>
              <a:rPr lang="en-CA" dirty="0"/>
              <a:t>(t) = +A + n(t)</a:t>
            </a:r>
          </a:p>
          <a:p>
            <a:pPr lvl="2"/>
            <a:r>
              <a:rPr lang="en-CA" dirty="0" err="1"/>
              <a:t>CLK_n</a:t>
            </a:r>
            <a:r>
              <a:rPr lang="en-CA" dirty="0"/>
              <a:t>(t) = -A + n(t)</a:t>
            </a:r>
          </a:p>
          <a:p>
            <a:pPr lvl="1"/>
            <a:r>
              <a:rPr lang="en-CA" dirty="0"/>
              <a:t>Receiver: n(t) gets cancelled</a:t>
            </a:r>
          </a:p>
          <a:p>
            <a:pPr lvl="2"/>
            <a:r>
              <a:rPr lang="en-CA" dirty="0" err="1"/>
              <a:t>y_p</a:t>
            </a:r>
            <a:r>
              <a:rPr lang="en-CA" dirty="0"/>
              <a:t>(t) = D(t) – </a:t>
            </a:r>
            <a:r>
              <a:rPr lang="en-CA" dirty="0" err="1"/>
              <a:t>CLK_p</a:t>
            </a:r>
            <a:r>
              <a:rPr lang="en-CA" dirty="0"/>
              <a:t>(t) = </a:t>
            </a:r>
            <a:r>
              <a:rPr lang="en-CA" dirty="0" err="1"/>
              <a:t>a_k</a:t>
            </a:r>
            <a:r>
              <a:rPr lang="en-CA" dirty="0"/>
              <a:t> - A</a:t>
            </a:r>
          </a:p>
          <a:p>
            <a:pPr lvl="2"/>
            <a:r>
              <a:rPr lang="en-CA" dirty="0" err="1"/>
              <a:t>y_n</a:t>
            </a:r>
            <a:r>
              <a:rPr lang="en-CA" dirty="0"/>
              <a:t>(t) = D(t) – </a:t>
            </a:r>
            <a:r>
              <a:rPr lang="en-CA" dirty="0" err="1"/>
              <a:t>CLK_n</a:t>
            </a:r>
            <a:r>
              <a:rPr lang="en-CA" dirty="0"/>
              <a:t>(t) = </a:t>
            </a:r>
            <a:r>
              <a:rPr lang="en-CA" dirty="0" err="1"/>
              <a:t>a_k</a:t>
            </a:r>
            <a:r>
              <a:rPr lang="en-CA" dirty="0"/>
              <a:t> + A</a:t>
            </a:r>
          </a:p>
          <a:p>
            <a:r>
              <a:rPr lang="en-CA" dirty="0"/>
              <a:t>Driver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Equalization</a:t>
            </a:r>
          </a:p>
          <a:p>
            <a:pPr lvl="1"/>
            <a:r>
              <a:rPr lang="en-CA" dirty="0"/>
              <a:t>Tx: capacitive-peaking + implicit equalization from FS-puller</a:t>
            </a:r>
          </a:p>
          <a:p>
            <a:pPr lvl="1"/>
            <a:r>
              <a:rPr lang="en-CA" dirty="0"/>
              <a:t>Rx: DFE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39B6AF-0E52-6E52-D1AD-721E7CF75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67" y="1463125"/>
            <a:ext cx="4823153" cy="3768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D20598-A478-8931-586F-1B36276F5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824" y="3124202"/>
            <a:ext cx="5183189" cy="210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87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E5342-8933-B45A-1221-914BD434C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ISSCC 2025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63A2-1C1A-A352-C009-B42AF2A73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Promises</a:t>
            </a:r>
          </a:p>
          <a:p>
            <a:pPr lvl="1"/>
            <a:r>
              <a:rPr lang="en-CA" dirty="0"/>
              <a:t>Noise cancellation</a:t>
            </a:r>
          </a:p>
          <a:p>
            <a:pPr lvl="1"/>
            <a:r>
              <a:rPr lang="en-CA" dirty="0"/>
              <a:t>Reduced static current, power consumption</a:t>
            </a:r>
          </a:p>
          <a:p>
            <a:r>
              <a:rPr lang="en-CA" dirty="0"/>
              <a:t>Drawbacks</a:t>
            </a:r>
          </a:p>
          <a:p>
            <a:pPr lvl="1"/>
            <a:r>
              <a:rPr lang="en-CA" dirty="0"/>
              <a:t>Nonlinear source</a:t>
            </a:r>
          </a:p>
          <a:p>
            <a:pPr lvl="2"/>
            <a:r>
              <a:rPr lang="en-CA" dirty="0"/>
              <a:t>Mid-level impedance control</a:t>
            </a:r>
          </a:p>
          <a:p>
            <a:endParaRPr lang="en-CA" dirty="0"/>
          </a:p>
          <a:p>
            <a:r>
              <a:rPr lang="en-CA" dirty="0"/>
              <a:t>PAM 2.5, PAM4</a:t>
            </a:r>
          </a:p>
        </p:txBody>
      </p:sp>
    </p:spTree>
    <p:extLst>
      <p:ext uri="{BB962C8B-B14F-4D97-AF65-F5344CB8AC3E}">
        <p14:creationId xmlns:p14="http://schemas.microsoft.com/office/powerpoint/2010/main" val="836064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2367</TotalTime>
  <Words>549</Words>
  <Application>Microsoft Office PowerPoint</Application>
  <PresentationFormat>Widescreen</PresentationFormat>
  <Paragraphs>119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Full circuit, now with TIA</vt:lpstr>
      <vt:lpstr>Result: TIA output == inbound data as expected</vt:lpstr>
      <vt:lpstr>Explanation</vt:lpstr>
      <vt:lpstr>Extension to PAM3</vt:lpstr>
      <vt:lpstr>PAM3 output driver operation (from the paper)</vt:lpstr>
      <vt:lpstr>Full circuit</vt:lpstr>
      <vt:lpstr>My PAM3 driver output signal with 300mV peak-to-peak swing (same as the paper)</vt:lpstr>
      <vt:lpstr>Full transceiver function with PAM3: hybrid output matches inbound data, as desired, but with significant distortion</vt:lpstr>
      <vt:lpstr>Post-cursor ISI</vt:lpstr>
      <vt:lpstr>1-tap TX Feed-Forward Equalization (FFE)</vt:lpstr>
      <vt:lpstr>Graph with TX FIR equalization</vt:lpstr>
      <vt:lpstr>Graph with TX FIR equalization</vt:lpstr>
      <vt:lpstr>PowerPoint Presentation</vt:lpstr>
      <vt:lpstr>PowerPoint Presentation</vt:lpstr>
      <vt:lpstr>ISSCC 2025 paper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Satvick Acharya</dc:creator>
  <cp:lastModifiedBy>Satvick Acharya</cp:lastModifiedBy>
  <cp:revision>55</cp:revision>
  <dcterms:created xsi:type="dcterms:W3CDTF">2025-12-28T22:12:03Z</dcterms:created>
  <dcterms:modified xsi:type="dcterms:W3CDTF">2026-01-13T20:16:54Z</dcterms:modified>
</cp:coreProperties>
</file>