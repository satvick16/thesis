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8" r:id="rId2"/>
    <p:sldId id="259" r:id="rId3"/>
    <p:sldId id="267" r:id="rId4"/>
    <p:sldId id="260" r:id="rId5"/>
    <p:sldId id="264" r:id="rId6"/>
    <p:sldId id="261" r:id="rId7"/>
    <p:sldId id="263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64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3E6493-24D3-4DEA-B325-18508A0478D8}" type="datetimeFigureOut">
              <a:rPr lang="en-CA" smtClean="0"/>
              <a:t>2026-01-07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45575-D17D-4C7D-B623-51B9547944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50044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45575-D17D-4C7D-B623-51B9547944A0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13255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E37F6-9C01-7ED3-964B-F57D3A62E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3DE76C-29D9-24BF-2288-7CDE4B07B3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C06EBF-85E7-3C94-698D-B06752D623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81D9BB-03A0-7D40-E6A6-82073E3342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45575-D17D-4C7D-B623-51B9547944A0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48825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45575-D17D-4C7D-B623-51B9547944A0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9046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95910-0A59-6B19-1523-A46F04E377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C2E35F-1EC2-FF32-BF2B-62642F7E0B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59C7F-2C1B-951A-CDF2-48A66221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C6699-A93A-47F9-B388-583B39A0BE1F}" type="datetimeFigureOut">
              <a:rPr lang="en-CA" smtClean="0"/>
              <a:t>2026-01-07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C6333-862E-C26E-EA63-F41DEE07F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C47DB-8399-F3F8-0AA9-EA6BD87C3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33BD5-FBC5-4ABA-A668-BA935B4F673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8492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39B00-F5C5-B061-BE9C-82148C3B0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23053-8DDC-38B3-CB78-24EACFD7E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1A4A0-4EEA-8BEB-ECDE-B150F35DC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C6699-A93A-47F9-B388-583B39A0BE1F}" type="datetimeFigureOut">
              <a:rPr lang="en-CA" smtClean="0"/>
              <a:t>2026-01-07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27AF6-7756-0901-09D5-5DC9F4CBA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08F65-0270-DDFE-AA8F-B49FBEB75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33BD5-FBC5-4ABA-A668-BA935B4F673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36695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B16E5-4FB3-1BC6-9CA4-B64891A12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465199-DA2A-DB4A-C97D-6720AB5B2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0C5D0-CA09-DFCB-D264-A3B471F25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C6699-A93A-47F9-B388-583B39A0BE1F}" type="datetimeFigureOut">
              <a:rPr lang="en-CA" smtClean="0"/>
              <a:t>2026-01-07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6B132-4D21-3B88-3221-83CDBB7BB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63AC7-29B1-3C8E-C365-E523C279D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33BD5-FBC5-4ABA-A668-BA935B4F673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1996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AA0D9-A921-B350-5BB3-37031E753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31791-6584-9889-DDAF-184E04A204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4CAC7D-1D59-CA46-26AC-20D5429E0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5BC276-1858-2357-5B65-89795BE24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C6699-A93A-47F9-B388-583B39A0BE1F}" type="datetimeFigureOut">
              <a:rPr lang="en-CA" smtClean="0"/>
              <a:t>2026-01-07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BB2DA-F3EF-760B-2F6C-4DDA1B9CC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8ADEEF-3FE1-3263-C868-2AA58810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33BD5-FBC5-4ABA-A668-BA935B4F673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1011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A36E2-F417-BFC8-F37B-156F09552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CB86A-7572-AC21-96F9-1F94F4025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253504-57AC-8D9E-ED5F-9F31193782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4AFACB-9326-CE69-93D2-DD4200635C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988203-E826-037D-EF40-2B9D022F41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8259F8-DE38-35F2-6BDC-C1735AE1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C6699-A93A-47F9-B388-583B39A0BE1F}" type="datetimeFigureOut">
              <a:rPr lang="en-CA" smtClean="0"/>
              <a:t>2026-01-07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A67E28-3F05-E23B-AB1A-4B109D5F9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2646F9-45C0-3DD4-B6B8-00A2B6E63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33BD5-FBC5-4ABA-A668-BA935B4F673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9656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96C9A-E3FD-8B12-144C-366B0B8F4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3757FE-EE3F-E436-66B2-ADF0BDF9C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C6699-A93A-47F9-B388-583B39A0BE1F}" type="datetimeFigureOut">
              <a:rPr lang="en-CA" smtClean="0"/>
              <a:t>2026-01-07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ADDDE1-3673-CBFD-A43B-B4ADF544E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5DF4A-7F65-1FE6-C337-7DE41C010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33BD5-FBC5-4ABA-A668-BA935B4F673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1860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004A08-85CB-7F8E-5CEF-7C42808B9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C6699-A93A-47F9-B388-583B39A0BE1F}" type="datetimeFigureOut">
              <a:rPr lang="en-CA" smtClean="0"/>
              <a:t>2026-01-07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9014AE-54B5-86AD-301E-3C551D511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42657-B020-59BB-9202-A110A87CA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33BD5-FBC5-4ABA-A668-BA935B4F673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31620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ED04F-A307-5F20-B182-93146A1EA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87CA4-7A1F-9BCC-FD99-EB81ED5FB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C9EB06-D3B1-E47F-EF70-527CA756D9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69B11-F307-D450-CB75-BA74266CE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C6699-A93A-47F9-B388-583B39A0BE1F}" type="datetimeFigureOut">
              <a:rPr lang="en-CA" smtClean="0"/>
              <a:t>2026-01-07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E1F6E-D63E-EB24-E610-F5D9AFF1F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9E3C4-92AF-9210-03E3-41A5A14AA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33BD5-FBC5-4ABA-A668-BA935B4F673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8101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D51B1-EFB8-A191-29C9-F2F7D1DF7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C8A943-C364-242E-379C-DD62667FDE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4FC403-5DE9-9984-1BCD-CDCDFF3B42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F515F4-48D6-749C-94F8-06E0884D8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C6699-A93A-47F9-B388-583B39A0BE1F}" type="datetimeFigureOut">
              <a:rPr lang="en-CA" smtClean="0"/>
              <a:t>2026-01-07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C1B15E-47AF-5A47-1A46-EBDAF387B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F3992A-655E-1441-8CEB-205FB903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33BD5-FBC5-4ABA-A668-BA935B4F673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4303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3F150-741C-E982-2A35-A5F906D04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57BC00-56B9-7CA3-BFDA-DDC143D04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2D3A0-AAFD-8AF8-2841-76B40046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C6699-A93A-47F9-B388-583B39A0BE1F}" type="datetimeFigureOut">
              <a:rPr lang="en-CA" smtClean="0"/>
              <a:t>2026-01-07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87F53-CCDC-0953-A7AF-B827E44F1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64DF9-E644-F0CE-0FCC-B4EF48495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33BD5-FBC5-4ABA-A668-BA935B4F673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7129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45A65E-A042-E7BD-A60A-335B642F2A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00B2DD-A344-065A-F1B9-E8B92ABE0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C745-4B35-9BBE-2A15-3505933B1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C6699-A93A-47F9-B388-583B39A0BE1F}" type="datetimeFigureOut">
              <a:rPr lang="en-CA" smtClean="0"/>
              <a:t>2026-01-07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F7F65-C0DF-C0CB-E83B-38899413E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1C099-E251-A326-0D01-63405078E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33BD5-FBC5-4ABA-A668-BA935B4F673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9498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D7DE7D-A39B-CBAB-044E-6F9FFC675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1787C-84B8-E11D-1EC6-AB3BC7AFC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B5373-EC65-FCA5-12B3-B3AE1B077B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5C6699-A93A-47F9-B388-583B39A0BE1F}" type="datetimeFigureOut">
              <a:rPr lang="en-CA" smtClean="0"/>
              <a:t>2026-01-07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46D9-8B7F-0DEA-6320-0FC9808930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D8623-B5CC-29B9-B31E-A28AB8C47B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433BD5-FBC5-4ABA-A668-BA935B4F673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3736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1883E-034D-CF9A-8482-E6BA15F84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Full circuit, now with TIA</a:t>
            </a:r>
          </a:p>
        </p:txBody>
      </p:sp>
      <p:pic>
        <p:nvPicPr>
          <p:cNvPr id="5" name="Picture 4" descr="A computer screen shot of a circuit&#10;&#10;AI-generated content may be incorrect.">
            <a:extLst>
              <a:ext uri="{FF2B5EF4-FFF2-40B4-BE49-F238E27FC236}">
                <a16:creationId xmlns:a16="http://schemas.microsoft.com/office/drawing/2014/main" id="{534A2D95-C4D5-CE71-DAE5-975A5B0FD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988" y="1886762"/>
            <a:ext cx="7153741" cy="460611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442224B-0E52-E8A4-0B95-286699477E21}"/>
              </a:ext>
            </a:extLst>
          </p:cNvPr>
          <p:cNvSpPr/>
          <p:nvPr/>
        </p:nvSpPr>
        <p:spPr>
          <a:xfrm>
            <a:off x="9082216" y="4411362"/>
            <a:ext cx="1680519" cy="1828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B6DD8B-271F-294F-6B57-F66BAD72E5F0}"/>
              </a:ext>
            </a:extLst>
          </p:cNvPr>
          <p:cNvSpPr/>
          <p:nvPr/>
        </p:nvSpPr>
        <p:spPr>
          <a:xfrm>
            <a:off x="8554995" y="2870886"/>
            <a:ext cx="1157416" cy="14292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D6575-8505-9518-1E3A-26FDC5BC50B2}"/>
              </a:ext>
            </a:extLst>
          </p:cNvPr>
          <p:cNvSpPr/>
          <p:nvPr/>
        </p:nvSpPr>
        <p:spPr>
          <a:xfrm>
            <a:off x="7315200" y="1930011"/>
            <a:ext cx="1054442" cy="14292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FB8EDC-B287-8AFD-E2D1-BCF0C8A2C294}"/>
              </a:ext>
            </a:extLst>
          </p:cNvPr>
          <p:cNvSpPr txBox="1"/>
          <p:nvPr/>
        </p:nvSpPr>
        <p:spPr>
          <a:xfrm>
            <a:off x="6034721" y="2985526"/>
            <a:ext cx="1280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Main driver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765040-CA78-BCD9-9E85-3B8F6C01A780}"/>
              </a:ext>
            </a:extLst>
          </p:cNvPr>
          <p:cNvSpPr txBox="1"/>
          <p:nvPr/>
        </p:nvSpPr>
        <p:spPr>
          <a:xfrm>
            <a:off x="7027379" y="3881391"/>
            <a:ext cx="1542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Replica driver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140A2E-56C1-2F9D-CE5C-47A854495178}"/>
              </a:ext>
            </a:extLst>
          </p:cNvPr>
          <p:cNvSpPr txBox="1"/>
          <p:nvPr/>
        </p:nvSpPr>
        <p:spPr>
          <a:xfrm>
            <a:off x="7130954" y="5583065"/>
            <a:ext cx="2002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Transimpedance amplifier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DB068F-7428-9E5B-B0DF-0633274F05FE}"/>
              </a:ext>
            </a:extLst>
          </p:cNvPr>
          <p:cNvSpPr txBox="1"/>
          <p:nvPr/>
        </p:nvSpPr>
        <p:spPr>
          <a:xfrm>
            <a:off x="10762735" y="2114377"/>
            <a:ext cx="102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Channel</a:t>
            </a:r>
          </a:p>
        </p:txBody>
      </p:sp>
      <p:pic>
        <p:nvPicPr>
          <p:cNvPr id="16" name="Picture 15" descr="A diagram of a hybrid circuit&#10;&#10;AI-generated content may be incorrect.">
            <a:extLst>
              <a:ext uri="{FF2B5EF4-FFF2-40B4-BE49-F238E27FC236}">
                <a16:creationId xmlns:a16="http://schemas.microsoft.com/office/drawing/2014/main" id="{1FDBDE1A-DC2E-B2D7-B600-AD876F298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50" y="2746579"/>
            <a:ext cx="3591426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237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34369-C3DC-CC61-2D3F-E4CC19DB4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Result: TIA output == inbound data as expected</a:t>
            </a: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FB6A7D76-F215-2DC5-9D39-F836E077A79C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rcRect l="1312" t="1429" r="58021" b="6732"/>
          <a:stretch>
            <a:fillRect/>
          </a:stretch>
        </p:blipFill>
        <p:spPr>
          <a:xfrm>
            <a:off x="826701" y="2122563"/>
            <a:ext cx="2658762" cy="43943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A4CF40-527B-71D9-C986-C7FC50726F58}"/>
              </a:ext>
            </a:extLst>
          </p:cNvPr>
          <p:cNvSpPr txBox="1"/>
          <p:nvPr/>
        </p:nvSpPr>
        <p:spPr>
          <a:xfrm>
            <a:off x="1852689" y="1690688"/>
            <a:ext cx="8611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b="1" dirty="0"/>
              <a:t>Paper</a:t>
            </a:r>
          </a:p>
        </p:txBody>
      </p:sp>
      <p:pic>
        <p:nvPicPr>
          <p:cNvPr id="13" name="Picture 1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668C1FDD-578A-C953-6421-D4B3530B65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253"/>
          <a:stretch>
            <a:fillRect/>
          </a:stretch>
        </p:blipFill>
        <p:spPr>
          <a:xfrm>
            <a:off x="4955059" y="2313061"/>
            <a:ext cx="6976127" cy="417981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05A6E6D-3DA8-A664-3F5B-F40C538C075F}"/>
              </a:ext>
            </a:extLst>
          </p:cNvPr>
          <p:cNvSpPr txBox="1"/>
          <p:nvPr/>
        </p:nvSpPr>
        <p:spPr>
          <a:xfrm>
            <a:off x="6388444" y="3047029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Hybrid output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5F164D-D4A3-F4F2-15AF-3B481066A535}"/>
              </a:ext>
            </a:extLst>
          </p:cNvPr>
          <p:cNvSpPr txBox="1"/>
          <p:nvPr/>
        </p:nvSpPr>
        <p:spPr>
          <a:xfrm>
            <a:off x="9111048" y="3847589"/>
            <a:ext cx="1693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Outbound 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CEAFFD-CB11-6C2E-A679-44DA6EF66BE3}"/>
              </a:ext>
            </a:extLst>
          </p:cNvPr>
          <p:cNvSpPr txBox="1"/>
          <p:nvPr/>
        </p:nvSpPr>
        <p:spPr>
          <a:xfrm>
            <a:off x="9204022" y="5483717"/>
            <a:ext cx="1507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Inbound data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15CCA7-A4B7-0ECA-486B-78AFC21BD0ED}"/>
              </a:ext>
            </a:extLst>
          </p:cNvPr>
          <p:cNvSpPr txBox="1"/>
          <p:nvPr/>
        </p:nvSpPr>
        <p:spPr>
          <a:xfrm>
            <a:off x="6564774" y="4585286"/>
            <a:ext cx="12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TIA output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A3C0D1-185F-996F-618A-9D15AF3ED84D}"/>
              </a:ext>
            </a:extLst>
          </p:cNvPr>
          <p:cNvSpPr txBox="1"/>
          <p:nvPr/>
        </p:nvSpPr>
        <p:spPr>
          <a:xfrm>
            <a:off x="7498891" y="1690688"/>
            <a:ext cx="13917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b="1" dirty="0"/>
              <a:t>My results</a:t>
            </a:r>
          </a:p>
        </p:txBody>
      </p:sp>
    </p:spTree>
    <p:extLst>
      <p:ext uri="{BB962C8B-B14F-4D97-AF65-F5344CB8AC3E}">
        <p14:creationId xmlns:p14="http://schemas.microsoft.com/office/powerpoint/2010/main" val="2245706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98453-7758-B9DE-D9D2-3D42E730C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E8738-5A9B-AE4A-5EBD-D646D3B1D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In both the paper and my simulation, the TIA input signal is 100 mV peak-to-peak</a:t>
            </a:r>
          </a:p>
          <a:p>
            <a:r>
              <a:rPr lang="en-CA" dirty="0"/>
              <a:t>In the paper, the TIA had an open-loop gain of 5, so my output peak-to-peak swing of roughly 400-500 mV makes sense</a:t>
            </a:r>
          </a:p>
          <a:p>
            <a:endParaRPr lang="en-CA" dirty="0"/>
          </a:p>
          <a:p>
            <a:r>
              <a:rPr lang="en-CA" dirty="0"/>
              <a:t>Paper: Rf=1.2k</a:t>
            </a:r>
          </a:p>
          <a:p>
            <a:r>
              <a:rPr lang="en-CA" dirty="0"/>
              <a:t>Mine: Rf=6k</a:t>
            </a:r>
          </a:p>
        </p:txBody>
      </p:sp>
    </p:spTree>
    <p:extLst>
      <p:ext uri="{BB962C8B-B14F-4D97-AF65-F5344CB8AC3E}">
        <p14:creationId xmlns:p14="http://schemas.microsoft.com/office/powerpoint/2010/main" val="609613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4B766-D08A-B4C4-A00E-9A2DD572B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Extension to PAM3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E5DE6-271D-AE32-B479-4793FFD23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933303" cy="4351338"/>
          </a:xfrm>
        </p:spPr>
        <p:txBody>
          <a:bodyPr>
            <a:normAutofit fontScale="92500" lnSpcReduction="20000"/>
          </a:bodyPr>
          <a:lstStyle/>
          <a:p>
            <a:r>
              <a:rPr lang="en-CA" dirty="0"/>
              <a:t>CMOS-inverter-based drivers are no longer suitable</a:t>
            </a:r>
          </a:p>
          <a:p>
            <a:r>
              <a:rPr lang="en-CA" dirty="0"/>
              <a:t>I used the PAM3 output driver from this paper:</a:t>
            </a:r>
          </a:p>
          <a:p>
            <a:pPr lvl="1"/>
            <a:r>
              <a:rPr lang="en-CA" dirty="0"/>
              <a:t>H. Park, J. Song, J. Sim, Y. Choi, J. Choi, J. Yoo, and C. Kim, </a:t>
            </a:r>
            <a:r>
              <a:rPr lang="en-CA" b="1" dirty="0"/>
              <a:t>“30-Gb/s 1.11-pJ/bit single-ended PAM-3 transceiver for high-speed memory links,”</a:t>
            </a:r>
            <a:r>
              <a:rPr lang="en-CA" dirty="0"/>
              <a:t> </a:t>
            </a:r>
            <a:r>
              <a:rPr lang="en-CA" i="1" dirty="0"/>
              <a:t>IEEE Journal of Solid-State Circuits</a:t>
            </a:r>
            <a:r>
              <a:rPr lang="en-CA" dirty="0"/>
              <a:t>, vol. 56, no. 2, pp. 581–590, 2020.</a:t>
            </a:r>
          </a:p>
          <a:p>
            <a:r>
              <a:rPr lang="en-CA" dirty="0"/>
              <a:t>I kept the main driver and replica driver output resistance the same, so the other resistances need not change</a:t>
            </a:r>
          </a:p>
          <a:p>
            <a:pPr lvl="1"/>
            <a:r>
              <a:rPr lang="en-CA" dirty="0" err="1"/>
              <a:t>Rdrv</a:t>
            </a:r>
            <a:r>
              <a:rPr lang="en-CA" dirty="0"/>
              <a:t> = 55, </a:t>
            </a:r>
            <a:r>
              <a:rPr lang="en-CA" dirty="0" err="1"/>
              <a:t>Rrep</a:t>
            </a:r>
            <a:r>
              <a:rPr lang="en-CA" dirty="0"/>
              <a:t> = 275</a:t>
            </a:r>
          </a:p>
        </p:txBody>
      </p:sp>
      <p:pic>
        <p:nvPicPr>
          <p:cNvPr id="5" name="Picture 4" descr="A computer screen shot of a circuit board&#10;&#10;AI-generated content may be incorrect.">
            <a:extLst>
              <a:ext uri="{FF2B5EF4-FFF2-40B4-BE49-F238E27FC236}">
                <a16:creationId xmlns:a16="http://schemas.microsoft.com/office/drawing/2014/main" id="{614FC4C6-8D6D-B297-09AF-DDC49321F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899" y="113837"/>
            <a:ext cx="4124901" cy="3315163"/>
          </a:xfrm>
          <a:prstGeom prst="rect">
            <a:avLst/>
          </a:prstGeom>
        </p:spPr>
      </p:pic>
      <p:pic>
        <p:nvPicPr>
          <p:cNvPr id="7" name="Picture 6" descr="A computer screen shot of a circuit&#10;&#10;AI-generated content may be incorrect.">
            <a:extLst>
              <a:ext uri="{FF2B5EF4-FFF2-40B4-BE49-F238E27FC236}">
                <a16:creationId xmlns:a16="http://schemas.microsoft.com/office/drawing/2014/main" id="{7A77AD9A-A1DF-8017-E7BF-8330AB104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9373" y="3476632"/>
            <a:ext cx="4134427" cy="326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222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A896AF-0381-8EEE-F887-2B1BD9D4C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PAM3 output driver operation (from the paper)</a:t>
            </a:r>
          </a:p>
        </p:txBody>
      </p:sp>
      <p:pic>
        <p:nvPicPr>
          <p:cNvPr id="5" name="Content Placeholder 4" descr="A diagram of electrical circuits&#10;&#10;AI-generated content may be incorrect.">
            <a:extLst>
              <a:ext uri="{FF2B5EF4-FFF2-40B4-BE49-F238E27FC236}">
                <a16:creationId xmlns:a16="http://schemas.microsoft.com/office/drawing/2014/main" id="{D3E9BCE3-6A2D-0984-F19B-20DCB3DCB0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13003" y="643466"/>
            <a:ext cx="6709325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247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FB3E9-DAF1-DDA0-28F6-B5B97FF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Full circuit</a:t>
            </a:r>
          </a:p>
        </p:txBody>
      </p:sp>
      <p:pic>
        <p:nvPicPr>
          <p:cNvPr id="5" name="Picture 4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D4E42E63-5489-63F5-4BB3-1F2169324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0503" y="365125"/>
            <a:ext cx="4233723" cy="6089138"/>
          </a:xfrm>
          <a:prstGeom prst="rect">
            <a:avLst/>
          </a:prstGeom>
        </p:spPr>
      </p:pic>
      <p:pic>
        <p:nvPicPr>
          <p:cNvPr id="7" name="Picture 6" descr="A diagram of a circuit&#10;&#10;AI-generated content may be incorrect.">
            <a:extLst>
              <a:ext uri="{FF2B5EF4-FFF2-40B4-BE49-F238E27FC236}">
                <a16:creationId xmlns:a16="http://schemas.microsoft.com/office/drawing/2014/main" id="{80160D60-BC41-1BA4-C09D-573FA889E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644417"/>
            <a:ext cx="3879880" cy="19399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966B248-BA83-54DA-CE6E-C3FBBF58E772}"/>
              </a:ext>
            </a:extLst>
          </p:cNvPr>
          <p:cNvSpPr txBox="1"/>
          <p:nvPr/>
        </p:nvSpPr>
        <p:spPr>
          <a:xfrm>
            <a:off x="5441204" y="1666230"/>
            <a:ext cx="16484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/>
              <a:t>Main driver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CBBACD-BAB0-7769-FC4A-AA0277BFEEE6}"/>
              </a:ext>
            </a:extLst>
          </p:cNvPr>
          <p:cNvSpPr txBox="1"/>
          <p:nvPr/>
        </p:nvSpPr>
        <p:spPr>
          <a:xfrm>
            <a:off x="5156262" y="4730106"/>
            <a:ext cx="19960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/>
              <a:t>Replica driver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E146D3-5EE5-F655-CED4-0E08C3B0969F}"/>
              </a:ext>
            </a:extLst>
          </p:cNvPr>
          <p:cNvSpPr/>
          <p:nvPr/>
        </p:nvSpPr>
        <p:spPr>
          <a:xfrm>
            <a:off x="7698658" y="471948"/>
            <a:ext cx="4041058" cy="285022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8F0CEA-61C6-16EE-E38A-D2C808B47183}"/>
              </a:ext>
            </a:extLst>
          </p:cNvPr>
          <p:cNvSpPr/>
          <p:nvPr/>
        </p:nvSpPr>
        <p:spPr>
          <a:xfrm>
            <a:off x="7698658" y="3535823"/>
            <a:ext cx="4041058" cy="285022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07D42CC-01A0-5CE6-7F0E-BFC637C44BD1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>
            <a:off x="7089604" y="1897063"/>
            <a:ext cx="609054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EC709BE-3D58-5456-E774-9E4FCFD98CD7}"/>
              </a:ext>
            </a:extLst>
          </p:cNvPr>
          <p:cNvCxnSpPr>
            <a:stCxn id="12" idx="3"/>
            <a:endCxn id="14" idx="1"/>
          </p:cNvCxnSpPr>
          <p:nvPr/>
        </p:nvCxnSpPr>
        <p:spPr>
          <a:xfrm flipV="1">
            <a:off x="7152321" y="4960938"/>
            <a:ext cx="546337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32BFF04-EE10-19B4-D5A4-F47EDF28F45F}"/>
              </a:ext>
            </a:extLst>
          </p:cNvPr>
          <p:cNvSpPr txBox="1"/>
          <p:nvPr/>
        </p:nvSpPr>
        <p:spPr>
          <a:xfrm>
            <a:off x="8298426" y="916712"/>
            <a:ext cx="437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FF0000"/>
                </a:solidFill>
              </a:rPr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80C99D-1441-6A1E-04A4-48987025EDB5}"/>
              </a:ext>
            </a:extLst>
          </p:cNvPr>
          <p:cNvSpPr txBox="1"/>
          <p:nvPr/>
        </p:nvSpPr>
        <p:spPr>
          <a:xfrm>
            <a:off x="8347854" y="2057722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FF0000"/>
                </a:solidFill>
              </a:rPr>
              <a:t>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504B7A-60AF-B020-51EE-A0FC09D1D8C6}"/>
              </a:ext>
            </a:extLst>
          </p:cNvPr>
          <p:cNvSpPr txBox="1"/>
          <p:nvPr/>
        </p:nvSpPr>
        <p:spPr>
          <a:xfrm>
            <a:off x="8298426" y="362246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FF0000"/>
                </a:solidFill>
              </a:rPr>
              <a:t>!H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813A5E-B7FF-03E6-473C-C946E1B5BED2}"/>
              </a:ext>
            </a:extLst>
          </p:cNvPr>
          <p:cNvSpPr txBox="1"/>
          <p:nvPr/>
        </p:nvSpPr>
        <p:spPr>
          <a:xfrm>
            <a:off x="8266366" y="5145603"/>
            <a:ext cx="4700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FF0000"/>
                </a:solidFill>
              </a:rPr>
              <a:t>!L</a:t>
            </a:r>
          </a:p>
        </p:txBody>
      </p:sp>
    </p:spTree>
    <p:extLst>
      <p:ext uri="{BB962C8B-B14F-4D97-AF65-F5344CB8AC3E}">
        <p14:creationId xmlns:p14="http://schemas.microsoft.com/office/powerpoint/2010/main" val="1231440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6F099-F241-DDEB-7D81-4728EA92B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F78F9-C3F9-0350-DC6A-B3B3885FC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/>
              <a:t>My PAM3 driver output signal with 300mV peak-to-peak swing (same as the paper)</a:t>
            </a:r>
          </a:p>
        </p:txBody>
      </p:sp>
      <p:pic>
        <p:nvPicPr>
          <p:cNvPr id="9" name="Picture 8" descr="A screen shot of a graph&#10;&#10;AI-generated content may be incorrect.">
            <a:extLst>
              <a:ext uri="{FF2B5EF4-FFF2-40B4-BE49-F238E27FC236}">
                <a16:creationId xmlns:a16="http://schemas.microsoft.com/office/drawing/2014/main" id="{B5E7C933-B78D-6B8C-BBCF-1BC4A7FA1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303" y="1826615"/>
            <a:ext cx="10117394" cy="4428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993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 shot of a graph&#10;&#10;AI-generated content may be incorrect.">
            <a:extLst>
              <a:ext uri="{FF2B5EF4-FFF2-40B4-BE49-F238E27FC236}">
                <a16:creationId xmlns:a16="http://schemas.microsoft.com/office/drawing/2014/main" id="{8D04A9A1-30D0-E7C8-F423-53F33448C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924" y="1577514"/>
            <a:ext cx="9634151" cy="50414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E60724-15A1-4E70-305F-1CF59B694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CA" sz="2800" dirty="0"/>
              <a:t>Full transceiver function with PAM3: hybrid output matches inbound data, as desired, but with significant distortion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5AD470-0A6F-6820-6A07-C74BA86981B6}"/>
              </a:ext>
            </a:extLst>
          </p:cNvPr>
          <p:cNvSpPr txBox="1"/>
          <p:nvPr/>
        </p:nvSpPr>
        <p:spPr>
          <a:xfrm>
            <a:off x="7234581" y="2249237"/>
            <a:ext cx="1693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Outbound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ED00FF-8D33-9EAB-861A-B33F161A695B}"/>
              </a:ext>
            </a:extLst>
          </p:cNvPr>
          <p:cNvSpPr txBox="1"/>
          <p:nvPr/>
        </p:nvSpPr>
        <p:spPr>
          <a:xfrm>
            <a:off x="3859427" y="4004272"/>
            <a:ext cx="1553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Hybrid output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29248A-21F3-DCCB-B23B-CAD6F18A3D67}"/>
              </a:ext>
            </a:extLst>
          </p:cNvPr>
          <p:cNvSpPr txBox="1"/>
          <p:nvPr/>
        </p:nvSpPr>
        <p:spPr>
          <a:xfrm>
            <a:off x="7327555" y="5453598"/>
            <a:ext cx="1507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Inbound data</a:t>
            </a:r>
          </a:p>
        </p:txBody>
      </p:sp>
    </p:spTree>
    <p:extLst>
      <p:ext uri="{BB962C8B-B14F-4D97-AF65-F5344CB8AC3E}">
        <p14:creationId xmlns:p14="http://schemas.microsoft.com/office/powerpoint/2010/main" val="2618278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3120</TotalTime>
  <Words>258</Words>
  <Application>Microsoft Office PowerPoint</Application>
  <PresentationFormat>Widescreen</PresentationFormat>
  <Paragraphs>40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Full circuit, now with TIA</vt:lpstr>
      <vt:lpstr>Result: TIA output == inbound data as expected</vt:lpstr>
      <vt:lpstr>Explanation</vt:lpstr>
      <vt:lpstr>Extension to PAM3</vt:lpstr>
      <vt:lpstr>PAM3 output driver operation (from the paper)</vt:lpstr>
      <vt:lpstr>Full circuit</vt:lpstr>
      <vt:lpstr>My PAM3 driver output signal with 300mV peak-to-peak swing (same as the paper)</vt:lpstr>
      <vt:lpstr>Full transceiver function with PAM3: hybrid output matches inbound data, as desired, but with significant distortion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Satvick Acharya</dc:creator>
  <cp:lastModifiedBy>Satvick Acharya</cp:lastModifiedBy>
  <cp:revision>131</cp:revision>
  <dcterms:created xsi:type="dcterms:W3CDTF">2025-12-26T00:54:00Z</dcterms:created>
  <dcterms:modified xsi:type="dcterms:W3CDTF">2026-01-07T17:58:16Z</dcterms:modified>
</cp:coreProperties>
</file>