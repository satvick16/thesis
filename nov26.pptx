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CA75A-F910-FD0D-5DF9-322D23F58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5A9DA-D968-C23F-38B8-9F920C408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37150-3F1D-9151-FFC2-472991E8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6A79-B553-8D7C-7421-A23A8533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EC9B6-BADF-6D8C-91B2-E224F26D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839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9D6B-FA44-9726-FD6E-32C8C8A2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90B6-2D9D-D3F7-AE5A-8ABEE6689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C894-A5BB-A267-0663-ECCE92D89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76843-AC26-2CA7-215A-2EC00A68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69BB9-7378-9515-A454-F8F915A0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897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44E6-4A9A-2E18-7A4A-099C0FAC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80980-AFCF-5018-D85F-A7EA1EFD0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E19E9-D54D-0C75-0BB9-F6EDC67D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72B10-4376-7D00-A260-3170C96C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3C4A6-6C4B-3510-0A98-0910F2CA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6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39F7-F5CA-77C3-746C-5445FA56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B8CB-9AC8-9350-69D4-AB1ADF2C4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6801A-13F7-5B0E-3DC3-E5E5EBB43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33A9D-DF1C-A12E-9A79-DE5F5804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AF2C7-E72C-E374-73DD-721CDD64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43B20-B929-6006-9F5A-396173A0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154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9C4C-79C0-7355-CD36-5E759858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A5909-CD2D-91FD-3A14-CA38A48A6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C4E10-5DB0-CF99-437D-E2358DE03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4B8074-2773-090F-A7FC-6E71041D2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C5F40-FD70-3396-F6EC-7DA488FC5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B16058-7D43-70B6-2DF6-71890177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3515C-7CE7-590B-78DD-125D253E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9FB70-155C-EC24-6EAA-B8470418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338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FBCD-5E79-B667-BAD2-413FBDB0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1B92F-909A-6F0B-D2F7-EB402951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F495A-B51B-0836-B677-49B9E287B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339FD-1453-FF91-471C-ACC6E7BC5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7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14C26E-DC6E-05F4-1E3D-5A9C72FD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0E57A-C3FC-1F1A-C94C-23BF116F3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60EDD-3290-0125-69EC-E3399DC3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495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DBD0F-DC65-A8DB-EEF4-365F1818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99F80-A25B-57AC-255E-503489843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727EF-5BF8-78C4-D966-9DC734B53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A6325-F2ED-5C10-C214-26FDFFCD4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A3904-16FD-2640-4EF0-9D19DD92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08B0A-E23D-3847-60F4-69289DA2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886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DD7E-32AD-E45A-F55B-D85A5E72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FE930-D32E-9BEF-CF1F-FBFBB07B1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A7024-6221-5E25-A4BA-455952038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0A0F9-BBBF-81E1-9192-CC08A4C2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293C-16BD-173E-16F1-F3D8AA1D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AAF09-FD7E-7529-9495-86095A2E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720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BDA6-690B-5425-D5E4-97FA40CE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BA7C9-14D3-E377-9EB2-77317A8FD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078A3-F7B6-C6CA-15FF-A7A23C28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2ECAA-8A14-E16B-EF6D-C4F62708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1D41A-F17E-728B-B5D6-C8A7513E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342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36F37-090D-4795-8EA2-7FCEA38F2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8F4C5-D492-36DB-ED3D-D0CDBCF92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8234C-6E1B-B37B-0EBF-CDA417808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E285D-7946-B5A1-77C6-9B801326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997A-D034-CA62-91FE-D47D5767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933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3CA8AF-9FA3-AAE2-4B60-AA1E5E5D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A3D23-C391-A81A-8046-3BC95C4E6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BD335-B6AB-447A-4D83-25CDF66A4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995FA-B65B-4BED-B894-309B40EC47CF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2A429-FFCA-ACCC-F549-4493134C2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44CD-1294-9B81-2017-BBEA831B4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33675-2D7F-4DA5-814E-2EF2F098CD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38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94CC-CD2B-B870-FED8-D9E9252939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November 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3F6F4-C683-31D4-0B8C-7C61A126B1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Formal proof, clarifying details of operation</a:t>
            </a:r>
          </a:p>
        </p:txBody>
      </p:sp>
    </p:spTree>
    <p:extLst>
      <p:ext uri="{BB962C8B-B14F-4D97-AF65-F5344CB8AC3E}">
        <p14:creationId xmlns:p14="http://schemas.microsoft.com/office/powerpoint/2010/main" val="31793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A4B7B-9AB6-9961-581C-34BEF0A5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Things to 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AACCE-47AB-07C7-5E66-1EBC0BF5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Odd behavior with Rh1 sizing</a:t>
            </a:r>
          </a:p>
          <a:p>
            <a:r>
              <a:rPr lang="en-CA" dirty="0"/>
              <a:t>Explanation for equations of operation</a:t>
            </a:r>
          </a:p>
          <a:p>
            <a:r>
              <a:rPr lang="en-CA" dirty="0"/>
              <a:t>Explanation for main driver and replica driver sizing</a:t>
            </a:r>
          </a:p>
        </p:txBody>
      </p:sp>
    </p:spTree>
    <p:extLst>
      <p:ext uri="{BB962C8B-B14F-4D97-AF65-F5344CB8AC3E}">
        <p14:creationId xmlns:p14="http://schemas.microsoft.com/office/powerpoint/2010/main" val="4204041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88A59-51A2-137A-4DE9-E7125A9D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Odd behavior observed last time: Rh1 = 52.5 </a:t>
            </a:r>
            <a:r>
              <a:rPr lang="en-CA" sz="3200" dirty="0">
                <a:sym typeface="Wingdings" panose="05000000000000000000" pitchFamily="2" charset="2"/>
              </a:rPr>
              <a:t> Rh1 = 100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EB9B2-1FCD-AB1B-1C21-9A6F279778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210"/>
          <a:stretch>
            <a:fillRect/>
          </a:stretch>
        </p:blipFill>
        <p:spPr>
          <a:xfrm>
            <a:off x="707922" y="1854969"/>
            <a:ext cx="4729316" cy="4536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DC2BDC-6714-7620-E144-45EB26ED68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919"/>
          <a:stretch>
            <a:fillRect/>
          </a:stretch>
        </p:blipFill>
        <p:spPr>
          <a:xfrm>
            <a:off x="6263149" y="1816850"/>
            <a:ext cx="5496232" cy="457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1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31723-97CB-16FA-F9D6-7D6682DA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DE70D-FDE4-ADBE-46E3-D99AA0113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897" y="1987771"/>
            <a:ext cx="5753903" cy="2705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14FFB5-9489-8570-C6B2-D97FAD4A0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60" y="5223497"/>
            <a:ext cx="5563376" cy="619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AA6688-37B3-99F6-F68E-86D3BFE9D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22" y="2327047"/>
            <a:ext cx="4514880" cy="317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9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1894-9E59-5008-B339-119EB7B2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3A00-B3A3-C84E-F26C-72730B95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Equations of operation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9094D8-5643-C6F2-92E4-05770873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90"/>
          <a:stretch>
            <a:fillRect/>
          </a:stretch>
        </p:blipFill>
        <p:spPr>
          <a:xfrm>
            <a:off x="4285163" y="2383302"/>
            <a:ext cx="5045650" cy="3865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686BFA-78CF-A385-B9BD-8E6BFD8FEF6A}"/>
              </a:ext>
            </a:extLst>
          </p:cNvPr>
          <p:cNvSpPr txBox="1"/>
          <p:nvPr/>
        </p:nvSpPr>
        <p:spPr>
          <a:xfrm>
            <a:off x="2387186" y="2467897"/>
            <a:ext cx="275588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@ 0.5Vdd with </a:t>
            </a:r>
            <a:r>
              <a:rPr lang="en-CA" b="1" dirty="0" err="1">
                <a:solidFill>
                  <a:srgbClr val="FF0000"/>
                </a:solidFill>
              </a:rPr>
              <a:t>Vdd</a:t>
            </a:r>
            <a:r>
              <a:rPr lang="en-CA" b="1" dirty="0">
                <a:solidFill>
                  <a:srgbClr val="FF0000"/>
                </a:solidFill>
              </a:rPr>
              <a:t> swing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8967D1-E8B1-75D4-A3A7-D1BBD19BE165}"/>
              </a:ext>
            </a:extLst>
          </p:cNvPr>
          <p:cNvSpPr txBox="1"/>
          <p:nvPr/>
        </p:nvSpPr>
        <p:spPr>
          <a:xfrm>
            <a:off x="5378244" y="1857245"/>
            <a:ext cx="307167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@ 0.5Vdd with 0.5Vdd swing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961B-6954-BE1C-3DA2-EC69FD0FC579}"/>
              </a:ext>
            </a:extLst>
          </p:cNvPr>
          <p:cNvSpPr txBox="1"/>
          <p:nvPr/>
        </p:nvSpPr>
        <p:spPr>
          <a:xfrm>
            <a:off x="8731045" y="2226577"/>
            <a:ext cx="319510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@ 0.5Vdd with 0.33Vdd swing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33DE64-4286-0A98-32EB-B6101C0A1A46}"/>
              </a:ext>
            </a:extLst>
          </p:cNvPr>
          <p:cNvSpPr txBox="1"/>
          <p:nvPr/>
        </p:nvSpPr>
        <p:spPr>
          <a:xfrm>
            <a:off x="8632723" y="5889522"/>
            <a:ext cx="301678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@ </a:t>
            </a:r>
            <a:r>
              <a:rPr lang="en-CA" b="1" dirty="0" err="1">
                <a:solidFill>
                  <a:srgbClr val="FF0000"/>
                </a:solidFill>
              </a:rPr>
              <a:t>Vdd</a:t>
            </a:r>
            <a:r>
              <a:rPr lang="en-CA" b="1" dirty="0">
                <a:solidFill>
                  <a:srgbClr val="FF0000"/>
                </a:solidFill>
              </a:rPr>
              <a:t>/2 with 100 mV swing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56F668-C278-6FBF-E3AE-36E761CBCBC1}"/>
              </a:ext>
            </a:extLst>
          </p:cNvPr>
          <p:cNvCxnSpPr>
            <a:stCxn id="4" idx="2"/>
          </p:cNvCxnSpPr>
          <p:nvPr/>
        </p:nvCxnSpPr>
        <p:spPr>
          <a:xfrm>
            <a:off x="3765128" y="2837229"/>
            <a:ext cx="1613116" cy="6016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784AE5-A239-E9F4-7850-C7B09A1A65B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587613" y="2226577"/>
            <a:ext cx="326469" cy="6936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B5ED13-776B-97DE-9B8D-99FBD893427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587613" y="2226577"/>
            <a:ext cx="326469" cy="19029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BC8086-C6C8-F116-2659-7CED2D6A28E0}"/>
              </a:ext>
            </a:extLst>
          </p:cNvPr>
          <p:cNvCxnSpPr>
            <a:stCxn id="8" idx="1"/>
          </p:cNvCxnSpPr>
          <p:nvPr/>
        </p:nvCxnSpPr>
        <p:spPr>
          <a:xfrm flipH="1">
            <a:off x="8052620" y="2411243"/>
            <a:ext cx="678425" cy="508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E11B95-7E25-4C4B-3266-22C4F72E495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7855975" y="4994133"/>
            <a:ext cx="776748" cy="10800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23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378AF-673D-0FC1-8869-838737C79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2E7C-604F-A704-0F52-B4F1024E7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Equations of operation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90E69-B211-9E64-3024-D64765512C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90"/>
          <a:stretch>
            <a:fillRect/>
          </a:stretch>
        </p:blipFill>
        <p:spPr>
          <a:xfrm>
            <a:off x="4285163" y="2383302"/>
            <a:ext cx="5045650" cy="3865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D95A4C-096B-5AAA-1AFB-2035E6FAB790}"/>
              </a:ext>
            </a:extLst>
          </p:cNvPr>
          <p:cNvSpPr txBox="1"/>
          <p:nvPr/>
        </p:nvSpPr>
        <p:spPr>
          <a:xfrm>
            <a:off x="2387186" y="2467897"/>
            <a:ext cx="2755883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@ 0.5Vdd with </a:t>
            </a:r>
            <a:r>
              <a:rPr lang="en-CA" b="1" dirty="0" err="1">
                <a:solidFill>
                  <a:srgbClr val="FF0000"/>
                </a:solidFill>
              </a:rPr>
              <a:t>Vdd</a:t>
            </a:r>
            <a:r>
              <a:rPr lang="en-CA" b="1" dirty="0">
                <a:solidFill>
                  <a:srgbClr val="FF0000"/>
                </a:solidFill>
              </a:rPr>
              <a:t> swing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1EAB7-6D85-C62D-7AE7-372811FDE666}"/>
              </a:ext>
            </a:extLst>
          </p:cNvPr>
          <p:cNvSpPr txBox="1"/>
          <p:nvPr/>
        </p:nvSpPr>
        <p:spPr>
          <a:xfrm>
            <a:off x="5378244" y="1857245"/>
            <a:ext cx="307167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@ 0.5Vdd with 0.5Vdd swing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00928-0D73-F972-1268-2F0EC2725FCF}"/>
              </a:ext>
            </a:extLst>
          </p:cNvPr>
          <p:cNvSpPr txBox="1"/>
          <p:nvPr/>
        </p:nvSpPr>
        <p:spPr>
          <a:xfrm>
            <a:off x="8731045" y="2226577"/>
            <a:ext cx="3195105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@ 0.5Vdd with 0.33Vdd swing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6361-D901-EC9D-7C80-A46BBC6CBAC7}"/>
              </a:ext>
            </a:extLst>
          </p:cNvPr>
          <p:cNvSpPr txBox="1"/>
          <p:nvPr/>
        </p:nvSpPr>
        <p:spPr>
          <a:xfrm>
            <a:off x="8632723" y="5889522"/>
            <a:ext cx="3016788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@ </a:t>
            </a:r>
            <a:r>
              <a:rPr lang="en-CA" b="1" dirty="0" err="1">
                <a:solidFill>
                  <a:srgbClr val="FF0000"/>
                </a:solidFill>
              </a:rPr>
              <a:t>Vdd</a:t>
            </a:r>
            <a:r>
              <a:rPr lang="en-CA" b="1" dirty="0">
                <a:solidFill>
                  <a:srgbClr val="FF0000"/>
                </a:solidFill>
              </a:rPr>
              <a:t>/2 with 100 mV swing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4D7B40-C011-1D25-2298-B00F907D6747}"/>
              </a:ext>
            </a:extLst>
          </p:cNvPr>
          <p:cNvCxnSpPr>
            <a:stCxn id="4" idx="2"/>
          </p:cNvCxnSpPr>
          <p:nvPr/>
        </p:nvCxnSpPr>
        <p:spPr>
          <a:xfrm>
            <a:off x="3765128" y="2837229"/>
            <a:ext cx="1613116" cy="6016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CC9079-6F58-4823-4CFA-1E38194680E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587613" y="2226577"/>
            <a:ext cx="326469" cy="6936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622A26-1D71-D6AE-DFA1-E0BB9C31E5BA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587613" y="2226577"/>
            <a:ext cx="326469" cy="19029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3F9268-4694-5E0B-22B8-5BE47ACB4B3D}"/>
              </a:ext>
            </a:extLst>
          </p:cNvPr>
          <p:cNvCxnSpPr>
            <a:stCxn id="8" idx="1"/>
          </p:cNvCxnSpPr>
          <p:nvPr/>
        </p:nvCxnSpPr>
        <p:spPr>
          <a:xfrm flipH="1">
            <a:off x="8052620" y="2411243"/>
            <a:ext cx="678425" cy="5089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80F6C2-7160-1B69-1861-3F2C1D87F840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7855975" y="4994133"/>
            <a:ext cx="776748" cy="10800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9EA03D-4AE1-4F0E-48D7-E705E18DE2E3}"/>
              </a:ext>
            </a:extLst>
          </p:cNvPr>
          <p:cNvSpPr txBox="1"/>
          <p:nvPr/>
        </p:nvSpPr>
        <p:spPr>
          <a:xfrm>
            <a:off x="540787" y="3429000"/>
            <a:ext cx="2851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paper defines 0.5Vdd (in their case 0.375V) to be the “ground reference”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55487-681C-8D30-2049-6F4130132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70" y="4693698"/>
            <a:ext cx="3258226" cy="18820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929601-1549-2834-FC36-5BDD41FAA3FC}"/>
              </a:ext>
            </a:extLst>
          </p:cNvPr>
          <p:cNvSpPr txBox="1"/>
          <p:nvPr/>
        </p:nvSpPr>
        <p:spPr>
          <a:xfrm>
            <a:off x="9355395" y="3533926"/>
            <a:ext cx="23695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makes the TIA input node a “virtual ground”</a:t>
            </a:r>
          </a:p>
          <a:p>
            <a:endParaRPr lang="en-CA" dirty="0"/>
          </a:p>
          <a:p>
            <a:r>
              <a:rPr lang="en-CA" dirty="0"/>
              <a:t>The feedback resistor in the TIA maintains input node at 0.5Vdd</a:t>
            </a:r>
          </a:p>
        </p:txBody>
      </p:sp>
    </p:spTree>
    <p:extLst>
      <p:ext uri="{BB962C8B-B14F-4D97-AF65-F5344CB8AC3E}">
        <p14:creationId xmlns:p14="http://schemas.microsoft.com/office/powerpoint/2010/main" val="44021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4F9F-7B80-19F2-E6AA-8EDAFEA1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This allows them to treat the TIA as a “near ideal op-amp” </a:t>
            </a:r>
            <a:r>
              <a:rPr lang="en-CA" dirty="0">
                <a:sym typeface="Wingdings" panose="05000000000000000000" pitchFamily="2" charset="2"/>
              </a:rPr>
              <a:t> TIA input draws 0 current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FC3EE-111C-3845-646F-1F400BC36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01"/>
          <a:stretch>
            <a:fillRect/>
          </a:stretch>
        </p:blipFill>
        <p:spPr>
          <a:xfrm>
            <a:off x="3204759" y="1942850"/>
            <a:ext cx="5782482" cy="3169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810653-897D-3B84-3895-341ACDAB4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601" y="5501608"/>
            <a:ext cx="589679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56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1F0C-36C7-FF00-5FAD-0EF1DE44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Main driver and replica driver sizing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C5BD8-ABB7-348B-2506-38F24B90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02" y="1897164"/>
            <a:ext cx="4433133" cy="3943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E01ECA-6599-4FF4-EB91-17259B296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526" y="2954235"/>
            <a:ext cx="6649378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9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AEA519-960C-A205-4986-E96CF9B2D4CF}"/>
              </a:ext>
            </a:extLst>
          </p:cNvPr>
          <p:cNvSpPr txBox="1"/>
          <p:nvPr/>
        </p:nvSpPr>
        <p:spPr>
          <a:xfrm>
            <a:off x="1317522" y="588328"/>
            <a:ext cx="4628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Hybrid circuit design process </a:t>
            </a:r>
            <a:r>
              <a:rPr lang="en-CA" b="1" dirty="0">
                <a:solidFill>
                  <a:srgbClr val="FF0000"/>
                </a:solidFill>
                <a:highlight>
                  <a:srgbClr val="FFFF00"/>
                </a:highlight>
              </a:rPr>
              <a:t>(version 1)</a:t>
            </a:r>
          </a:p>
          <a:p>
            <a:endParaRPr lang="en-CA" dirty="0"/>
          </a:p>
          <a:p>
            <a:r>
              <a:rPr lang="en-CA" dirty="0"/>
              <a:t>Choose Rh1, Rh2</a:t>
            </a:r>
          </a:p>
          <a:p>
            <a:r>
              <a:rPr lang="en-CA" dirty="0"/>
              <a:t>Known: Rf</a:t>
            </a:r>
          </a:p>
          <a:p>
            <a:r>
              <a:rPr lang="en-CA" dirty="0"/>
              <a:t>Choose </a:t>
            </a:r>
            <a:r>
              <a:rPr lang="en-CA" dirty="0" err="1"/>
              <a:t>Rdrv</a:t>
            </a:r>
            <a:r>
              <a:rPr lang="en-CA" dirty="0"/>
              <a:t>, Rs</a:t>
            </a:r>
          </a:p>
          <a:p>
            <a:endParaRPr lang="en-CA" dirty="0"/>
          </a:p>
          <a:p>
            <a:r>
              <a:rPr lang="en-CA" dirty="0"/>
              <a:t>Calculate </a:t>
            </a:r>
            <a:r>
              <a:rPr lang="en-CA" dirty="0" err="1"/>
              <a:t>Rrep</a:t>
            </a:r>
            <a:r>
              <a:rPr lang="en-CA" dirty="0"/>
              <a:t> to ensure signal cancellation: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Calculate </a:t>
            </a:r>
            <a:r>
              <a:rPr lang="en-CA" dirty="0" err="1"/>
              <a:t>Rtx</a:t>
            </a:r>
            <a:r>
              <a:rPr lang="en-CA" dirty="0"/>
              <a:t> and change k if </a:t>
            </a:r>
            <a:r>
              <a:rPr lang="en-CA" dirty="0" err="1"/>
              <a:t>Rtx</a:t>
            </a:r>
            <a:r>
              <a:rPr lang="en-CA" dirty="0"/>
              <a:t> != Z0: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A4B64-6B80-DF96-A288-14545E2F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22" y="2336862"/>
            <a:ext cx="4355688" cy="601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2E78E8-8F9E-0113-070F-EB698883E971}"/>
              </a:ext>
            </a:extLst>
          </p:cNvPr>
          <p:cNvSpPr txBox="1"/>
          <p:nvPr/>
        </p:nvSpPr>
        <p:spPr>
          <a:xfrm>
            <a:off x="6309892" y="588328"/>
            <a:ext cx="4628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Hybrid circuit design process </a:t>
            </a:r>
            <a:r>
              <a:rPr lang="en-CA" b="1" dirty="0">
                <a:solidFill>
                  <a:srgbClr val="FF0000"/>
                </a:solidFill>
                <a:highlight>
                  <a:srgbClr val="FFFF00"/>
                </a:highlight>
              </a:rPr>
              <a:t>(version 2)</a:t>
            </a:r>
          </a:p>
          <a:p>
            <a:endParaRPr lang="en-CA" dirty="0"/>
          </a:p>
          <a:p>
            <a:r>
              <a:rPr lang="en-CA" dirty="0"/>
              <a:t>Choose Rh1, </a:t>
            </a:r>
            <a:r>
              <a:rPr lang="en-CA" dirty="0" err="1"/>
              <a:t>Rrep</a:t>
            </a:r>
            <a:endParaRPr lang="en-CA" dirty="0"/>
          </a:p>
          <a:p>
            <a:r>
              <a:rPr lang="en-CA" dirty="0"/>
              <a:t>Known: Rf</a:t>
            </a:r>
          </a:p>
          <a:p>
            <a:r>
              <a:rPr lang="en-CA" dirty="0"/>
              <a:t>Choose </a:t>
            </a:r>
            <a:r>
              <a:rPr lang="en-CA" dirty="0" err="1"/>
              <a:t>Rdrv</a:t>
            </a:r>
            <a:r>
              <a:rPr lang="en-CA" dirty="0"/>
              <a:t>, Rs</a:t>
            </a:r>
          </a:p>
          <a:p>
            <a:endParaRPr lang="en-CA" dirty="0"/>
          </a:p>
          <a:p>
            <a:r>
              <a:rPr lang="en-CA" dirty="0"/>
              <a:t>Calculate Rh2 to ensure signal cancellation: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Calculate </a:t>
            </a:r>
            <a:r>
              <a:rPr lang="en-CA" dirty="0" err="1"/>
              <a:t>Rtx</a:t>
            </a:r>
            <a:r>
              <a:rPr lang="en-CA" dirty="0"/>
              <a:t> and change k if </a:t>
            </a:r>
            <a:r>
              <a:rPr lang="en-CA" dirty="0" err="1"/>
              <a:t>Rtx</a:t>
            </a:r>
            <a:r>
              <a:rPr lang="en-CA" dirty="0"/>
              <a:t> != Z0: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58ECC4-89F8-9725-CB3A-6CD2DFA60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892" y="2336862"/>
            <a:ext cx="4355688" cy="60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CFF0E7-9C59-6758-0AEF-F98F2B379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723" y="3727649"/>
            <a:ext cx="7144747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39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0714D1-F616-068D-3E4C-DA639B1E9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84" y="1733313"/>
            <a:ext cx="6668431" cy="33913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5E9982-79D0-D040-54A5-AD48A149C0E7}"/>
              </a:ext>
            </a:extLst>
          </p:cNvPr>
          <p:cNvSpPr txBox="1"/>
          <p:nvPr/>
        </p:nvSpPr>
        <p:spPr>
          <a:xfrm>
            <a:off x="9871587" y="3429000"/>
            <a:ext cx="18849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Rs = </a:t>
            </a:r>
            <a:r>
              <a:rPr lang="en-US" dirty="0" err="1"/>
              <a:t>Rdrv</a:t>
            </a:r>
            <a:r>
              <a:rPr lang="en-US" dirty="0"/>
              <a:t> maximizes linearity by keeping the nonlinear contribution (</a:t>
            </a:r>
            <a:r>
              <a:rPr lang="en-US" dirty="0" err="1"/>
              <a:t>Rdrv</a:t>
            </a:r>
            <a:r>
              <a:rPr lang="en-US" dirty="0"/>
              <a:t>(V)) to half of the total output impedance.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2997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D3CC-86F2-1992-1AD2-F735748E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3600" dirty="0"/>
              <a:t>Regardless, I tried a different </a:t>
            </a:r>
            <a:r>
              <a:rPr lang="en-CA" sz="3600" dirty="0" err="1"/>
              <a:t>Rdrv</a:t>
            </a:r>
            <a:r>
              <a:rPr lang="en-CA" sz="3600" dirty="0"/>
              <a:t>, </a:t>
            </a:r>
            <a:r>
              <a:rPr lang="en-CA" sz="3600" dirty="0" err="1"/>
              <a:t>Rrep</a:t>
            </a:r>
            <a:r>
              <a:rPr lang="en-CA" sz="3600" dirty="0"/>
              <a:t> configuration since we established that replicas are usually smaller (by a factor of ~5) to reduce power consumption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57D46-72A2-1C60-6CCB-CA24166A9126}"/>
              </a:ext>
            </a:extLst>
          </p:cNvPr>
          <p:cNvSpPr txBox="1"/>
          <p:nvPr/>
        </p:nvSpPr>
        <p:spPr>
          <a:xfrm>
            <a:off x="1337187" y="2497394"/>
            <a:ext cx="164339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Last time:</a:t>
            </a:r>
          </a:p>
          <a:p>
            <a:r>
              <a:rPr lang="en-CA" dirty="0" err="1"/>
              <a:t>Rdrv</a:t>
            </a:r>
            <a:r>
              <a:rPr lang="en-CA" dirty="0"/>
              <a:t> = 110</a:t>
            </a:r>
          </a:p>
          <a:p>
            <a:r>
              <a:rPr lang="en-CA" dirty="0" err="1"/>
              <a:t>Rrep</a:t>
            </a:r>
            <a:r>
              <a:rPr lang="en-CA" dirty="0"/>
              <a:t> = 110</a:t>
            </a:r>
          </a:p>
          <a:p>
            <a:r>
              <a:rPr lang="en-CA" dirty="0"/>
              <a:t>Rh1 = </a:t>
            </a:r>
            <a:r>
              <a:rPr lang="en-CA" strike="sngStrike" dirty="0"/>
              <a:t>52.5</a:t>
            </a:r>
            <a:r>
              <a:rPr lang="en-CA" dirty="0"/>
              <a:t> 100</a:t>
            </a:r>
          </a:p>
          <a:p>
            <a:r>
              <a:rPr lang="en-CA" dirty="0"/>
              <a:t>Rh2 = 268</a:t>
            </a:r>
          </a:p>
          <a:p>
            <a:endParaRPr lang="en-CA" dirty="0"/>
          </a:p>
          <a:p>
            <a:r>
              <a:rPr lang="en-CA" dirty="0"/>
              <a:t>This time:</a:t>
            </a:r>
          </a:p>
          <a:p>
            <a:r>
              <a:rPr lang="en-CA" dirty="0" err="1"/>
              <a:t>Rdrv</a:t>
            </a:r>
            <a:r>
              <a:rPr lang="en-CA" dirty="0"/>
              <a:t> = 55</a:t>
            </a:r>
          </a:p>
          <a:p>
            <a:r>
              <a:rPr lang="en-CA" dirty="0" err="1"/>
              <a:t>Rrep</a:t>
            </a:r>
            <a:r>
              <a:rPr lang="en-CA" dirty="0"/>
              <a:t> = 275</a:t>
            </a:r>
          </a:p>
          <a:p>
            <a:r>
              <a:rPr lang="en-CA" dirty="0"/>
              <a:t>Rh1 = 918</a:t>
            </a:r>
          </a:p>
          <a:p>
            <a:r>
              <a:rPr lang="en-CA" dirty="0"/>
              <a:t>Rh2 = 1675</a:t>
            </a:r>
          </a:p>
        </p:txBody>
      </p:sp>
    </p:spTree>
    <p:extLst>
      <p:ext uri="{BB962C8B-B14F-4D97-AF65-F5344CB8AC3E}">
        <p14:creationId xmlns:p14="http://schemas.microsoft.com/office/powerpoint/2010/main" val="2097429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318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November 26</vt:lpstr>
      <vt:lpstr>Things to discuss</vt:lpstr>
      <vt:lpstr>Odd behavior observed last time: Rh1 = 52.5  Rh1 = 100</vt:lpstr>
      <vt:lpstr>Explanation</vt:lpstr>
      <vt:lpstr>Equations of operation</vt:lpstr>
      <vt:lpstr>Equations of operation</vt:lpstr>
      <vt:lpstr>This allows them to treat the TIA as a “near ideal op-amp”  TIA input draws 0 current</vt:lpstr>
      <vt:lpstr>Main driver and replica driver sizing</vt:lpstr>
      <vt:lpstr>PowerPoint Presentation</vt:lpstr>
      <vt:lpstr>PowerPoint Presentation</vt:lpstr>
      <vt:lpstr>Regardless, I tried a different Rdrv, Rrep configuration since we established that replicas are usually smaller (by a factor of ~5) to reduce power consumption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34</cp:revision>
  <dcterms:created xsi:type="dcterms:W3CDTF">2025-11-24T18:21:09Z</dcterms:created>
  <dcterms:modified xsi:type="dcterms:W3CDTF">2025-11-24T19:23:49Z</dcterms:modified>
</cp:coreProperties>
</file>