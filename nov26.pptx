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57" r:id="rId4"/>
    <p:sldId id="258" r:id="rId5"/>
    <p:sldId id="260" r:id="rId6"/>
    <p:sldId id="261" r:id="rId7"/>
    <p:sldId id="262" r:id="rId8"/>
    <p:sldId id="264" r:id="rId9"/>
    <p:sldId id="265" r:id="rId10"/>
    <p:sldId id="267" r:id="rId11"/>
    <p:sldId id="266" r:id="rId12"/>
    <p:sldId id="270" r:id="rId13"/>
    <p:sldId id="268" r:id="rId14"/>
    <p:sldId id="271" r:id="rId15"/>
    <p:sldId id="272" r:id="rId16"/>
    <p:sldId id="273" r:id="rId17"/>
    <p:sldId id="274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ACA75A-F910-FD0D-5DF9-322D23F589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F5A9DA-D968-C23F-38B8-9F920C4082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D37150-3F1D-9151-FFC2-472991E8A5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8995FA-B65B-4BED-B894-309B40EC47CF}" type="datetimeFigureOut">
              <a:rPr lang="en-CA" smtClean="0"/>
              <a:t>2025-11-26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6C6A79-B553-8D7C-7421-A23A853336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5EC9B6-BADF-6D8C-91B2-E224F26D69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33675-2D7F-4DA5-814E-2EF2F098CDB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383944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249D6B-FA44-9726-FD6E-32C8C8A29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A890B6-2D9D-D3F7-AE5A-8ABEE6689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F3C894-A5BB-A267-0663-ECCE92D896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8995FA-B65B-4BED-B894-309B40EC47CF}" type="datetimeFigureOut">
              <a:rPr lang="en-CA" smtClean="0"/>
              <a:t>2025-11-26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076843-AC26-2CA7-215A-2EC00A680E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669BB9-7378-9515-A454-F8F915A05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33675-2D7F-4DA5-814E-2EF2F098CDB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989708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0044E6-4A9A-2E18-7A4A-099C0FAC5F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A80980-AFCF-5018-D85F-A7EA1EFD0A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1E19E9-D54D-0C75-0BB9-F6EDC67DE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8995FA-B65B-4BED-B894-309B40EC47CF}" type="datetimeFigureOut">
              <a:rPr lang="en-CA" smtClean="0"/>
              <a:t>2025-11-26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E72B10-4376-7D00-A260-3170C96C98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A3C4A6-6C4B-3510-0A98-0910F2CA6C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33675-2D7F-4DA5-814E-2EF2F098CDB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12696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B039F7-F5CA-77C3-746C-5445FA5657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61B8CB-9AC8-9350-69D4-AB1ADF2C46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D6801A-13F7-5B0E-3DC3-E5E5EBB432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133A9D-DF1C-A12E-9A79-DE5F580495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8995FA-B65B-4BED-B894-309B40EC47CF}" type="datetimeFigureOut">
              <a:rPr lang="en-CA" smtClean="0"/>
              <a:t>2025-11-26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7AF2C7-E72C-E374-73DD-721CDD64EE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843B20-B929-6006-9F5A-396173A061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33675-2D7F-4DA5-814E-2EF2F098CDB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815454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89C4C-79C0-7355-CD36-5E7598585C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9A5909-CD2D-91FD-3A14-CA38A48A62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6C4E10-5DB0-CF99-437D-E2358DE032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D4B8074-2773-090F-A7FC-6E71041D29E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B6C5F40-FD70-3396-F6EC-7DA488FC571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2B16058-7D43-70B6-2DF6-7189017787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8995FA-B65B-4BED-B894-309B40EC47CF}" type="datetimeFigureOut">
              <a:rPr lang="en-CA" smtClean="0"/>
              <a:t>2025-11-26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DA3515C-7CE7-590B-78DD-125D253EF8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A59FB70-155C-EC24-6EAA-B8470418C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33675-2D7F-4DA5-814E-2EF2F098CDB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733855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FFBCD-5E79-B667-BAD2-413FBDB0F3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291B92F-909A-6F0B-D2F7-EB4029511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8995FA-B65B-4BED-B894-309B40EC47CF}" type="datetimeFigureOut">
              <a:rPr lang="en-CA" smtClean="0"/>
              <a:t>2025-11-26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DDF495A-B51B-0836-B677-49B9E287BD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7339FD-1453-FF91-471C-ACC6E7BC5A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33675-2D7F-4DA5-814E-2EF2F098CDB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26772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814C26E-DC6E-05F4-1E3D-5A9C72FD4D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8995FA-B65B-4BED-B894-309B40EC47CF}" type="datetimeFigureOut">
              <a:rPr lang="en-CA" smtClean="0"/>
              <a:t>2025-11-26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E40E57A-C3FC-1F1A-C94C-23BF116F3E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B60EDD-3290-0125-69EC-E3399DC3B8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33675-2D7F-4DA5-814E-2EF2F098CDB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449520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2DBD0F-DC65-A8DB-EEF4-365F1818EA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099F80-A25B-57AC-255E-5034898430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1727EF-5BF8-78C4-D966-9DC734B53E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BA6325-F2ED-5C10-C214-26FDFFCD4C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8995FA-B65B-4BED-B894-309B40EC47CF}" type="datetimeFigureOut">
              <a:rPr lang="en-CA" smtClean="0"/>
              <a:t>2025-11-26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AA3904-16FD-2640-4EF0-9D19DD92A4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508B0A-E23D-3847-60F4-69289DA2DC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33675-2D7F-4DA5-814E-2EF2F098CDB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588675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88DD7E-32AD-E45A-F55B-D85A5E72A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29FE930-D32E-9BEF-CF1F-FBFBB07B1FF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DA7024-6221-5E25-A4BA-4559520383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90A0F9-BBBF-81E1-9192-CC08A4C2C1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8995FA-B65B-4BED-B894-309B40EC47CF}" type="datetimeFigureOut">
              <a:rPr lang="en-CA" smtClean="0"/>
              <a:t>2025-11-26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A7293C-16BD-173E-16F1-F3D8AA1D94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2AAF09-FD7E-7529-9495-86095A2ED2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33675-2D7F-4DA5-814E-2EF2F098CDB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572078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FCBDA6-690B-5425-D5E4-97FA40CE3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17BA7C9-14D3-E377-9EB2-77317A8FD8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E078A3-F7B6-C6CA-15FF-A7A23C2863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8995FA-B65B-4BED-B894-309B40EC47CF}" type="datetimeFigureOut">
              <a:rPr lang="en-CA" smtClean="0"/>
              <a:t>2025-11-26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22ECAA-8A14-E16B-EF6D-C4F62708E5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11D41A-F17E-728B-B5D6-C8A7513EAB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33675-2D7F-4DA5-814E-2EF2F098CDB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134271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D936F37-090D-4795-8EA2-7FCEA38F2A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68F4C5-D492-36DB-ED3D-D0CDBCF928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F8234C-6E1B-B37B-0EBF-CDA4178089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8995FA-B65B-4BED-B894-309B40EC47CF}" type="datetimeFigureOut">
              <a:rPr lang="en-CA" smtClean="0"/>
              <a:t>2025-11-26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7E285D-7946-B5A1-77C6-9B801326AA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6F997A-D034-CA62-91FE-D47D5767FC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33675-2D7F-4DA5-814E-2EF2F098CDB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893311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3CA8AF-9FA3-AAE2-4B60-AA1E5E5DBF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4A3D23-C391-A81A-8046-3BC95C4E65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CBD335-B6AB-447A-4D83-25CDF66A48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8995FA-B65B-4BED-B894-309B40EC47CF}" type="datetimeFigureOut">
              <a:rPr lang="en-CA" smtClean="0"/>
              <a:t>2025-11-26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22A429-FFCA-ACCC-F549-4493134C22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7144CD-1294-9B81-2017-BBEA831B40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1E33675-2D7F-4DA5-814E-2EF2F098CDB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713830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D494CC-CD2B-B870-FED8-D9E9252939C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CA" dirty="0"/>
              <a:t>November 26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33F6F4-C683-31D4-0B8C-7C61A126B17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CA" dirty="0"/>
              <a:t>Formal proof, clarifying details of operation</a:t>
            </a:r>
          </a:p>
        </p:txBody>
      </p:sp>
    </p:spTree>
    <p:extLst>
      <p:ext uri="{BB962C8B-B14F-4D97-AF65-F5344CB8AC3E}">
        <p14:creationId xmlns:p14="http://schemas.microsoft.com/office/powerpoint/2010/main" val="3179334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4A4B7B-9AB6-9961-581C-34BEF0A5F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Things to discuss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5AACCE-47AB-07C7-5E66-1EBC0BF50C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Odd behavior with Rh1 sizing</a:t>
            </a:r>
          </a:p>
          <a:p>
            <a:r>
              <a:rPr lang="en-CA" dirty="0"/>
              <a:t>Explanation for equations of operation</a:t>
            </a:r>
          </a:p>
          <a:p>
            <a:r>
              <a:rPr lang="en-CA" dirty="0"/>
              <a:t>Explanation for main driver and replica driver sizing</a:t>
            </a:r>
          </a:p>
          <a:p>
            <a:r>
              <a:rPr lang="en-CA" dirty="0"/>
              <a:t>Channel propagation delay</a:t>
            </a:r>
          </a:p>
          <a:p>
            <a:r>
              <a:rPr lang="en-CA" dirty="0"/>
              <a:t>Simulation refinement</a:t>
            </a:r>
          </a:p>
        </p:txBody>
      </p:sp>
    </p:spTree>
    <p:extLst>
      <p:ext uri="{BB962C8B-B14F-4D97-AF65-F5344CB8AC3E}">
        <p14:creationId xmlns:p14="http://schemas.microsoft.com/office/powerpoint/2010/main" val="42040412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688A59-51A2-137A-4DE9-E7125A9D89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sz="3200" dirty="0"/>
              <a:t>Odd behavior observed last time: Rh1 = 52.5 </a:t>
            </a:r>
            <a:r>
              <a:rPr lang="en-CA" sz="3200" dirty="0">
                <a:sym typeface="Wingdings" panose="05000000000000000000" pitchFamily="2" charset="2"/>
              </a:rPr>
              <a:t> Rh1 = 100</a:t>
            </a:r>
            <a:endParaRPr lang="en-CA" sz="32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78EB9B2-1FCD-AB1B-1C21-9A6F2797788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1210"/>
          <a:stretch>
            <a:fillRect/>
          </a:stretch>
        </p:blipFill>
        <p:spPr>
          <a:xfrm>
            <a:off x="707922" y="1854969"/>
            <a:ext cx="4729316" cy="453626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7DC2BDC-6714-7620-E144-45EB26ED68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4919"/>
          <a:stretch>
            <a:fillRect/>
          </a:stretch>
        </p:blipFill>
        <p:spPr>
          <a:xfrm>
            <a:off x="6263149" y="1816850"/>
            <a:ext cx="5496232" cy="4574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60160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731723-97CB-16FA-F9D6-7D6682DAB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Explanation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3DE70D-FDE4-ADBE-46E3-D99AA01131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9897" y="1987771"/>
            <a:ext cx="5753903" cy="270547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A14FFB5-9489-8570-C6B2-D97FAD4A07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5160" y="5223497"/>
            <a:ext cx="5563376" cy="61921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BAA6688-37B3-99F6-F68E-86D3BFE9DE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222" y="2327047"/>
            <a:ext cx="4514880" cy="31790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70962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D71894-9E59-5008-B339-119EB7B21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173A00-B3A3-C84E-F26C-72730B95CD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Equations of operation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E9094D8-5643-C6F2-92E4-05770873E92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090"/>
          <a:stretch>
            <a:fillRect/>
          </a:stretch>
        </p:blipFill>
        <p:spPr>
          <a:xfrm>
            <a:off x="4285163" y="2383302"/>
            <a:ext cx="5045650" cy="38654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B686BFA-78CF-A385-B9BD-8E6BFD8FEF6A}"/>
              </a:ext>
            </a:extLst>
          </p:cNvPr>
          <p:cNvSpPr txBox="1"/>
          <p:nvPr/>
        </p:nvSpPr>
        <p:spPr>
          <a:xfrm>
            <a:off x="2387186" y="2467897"/>
            <a:ext cx="2755883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CA" b="1" dirty="0">
                <a:solidFill>
                  <a:srgbClr val="FF0000"/>
                </a:solidFill>
              </a:rPr>
              <a:t>@ 0.5Vdd with </a:t>
            </a:r>
            <a:r>
              <a:rPr lang="en-CA" b="1" dirty="0" err="1">
                <a:solidFill>
                  <a:srgbClr val="FF0000"/>
                </a:solidFill>
              </a:rPr>
              <a:t>Vdd</a:t>
            </a:r>
            <a:r>
              <a:rPr lang="en-CA" b="1" dirty="0">
                <a:solidFill>
                  <a:srgbClr val="FF0000"/>
                </a:solidFill>
              </a:rPr>
              <a:t> swing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88967D1-E8B1-75D4-A3A7-D1BBD19BE165}"/>
              </a:ext>
            </a:extLst>
          </p:cNvPr>
          <p:cNvSpPr txBox="1"/>
          <p:nvPr/>
        </p:nvSpPr>
        <p:spPr>
          <a:xfrm>
            <a:off x="5378244" y="1857245"/>
            <a:ext cx="3071675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CA" b="1" dirty="0">
                <a:solidFill>
                  <a:srgbClr val="FF0000"/>
                </a:solidFill>
              </a:rPr>
              <a:t>@ 0.5Vdd with 0.5Vdd swing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54961B-6954-BE1C-3DA2-EC69FD0FC579}"/>
              </a:ext>
            </a:extLst>
          </p:cNvPr>
          <p:cNvSpPr txBox="1"/>
          <p:nvPr/>
        </p:nvSpPr>
        <p:spPr>
          <a:xfrm>
            <a:off x="8731045" y="2226577"/>
            <a:ext cx="3195105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CA" b="1" dirty="0">
                <a:solidFill>
                  <a:srgbClr val="FF0000"/>
                </a:solidFill>
              </a:rPr>
              <a:t>@ 0.5Vdd with 0.33Vdd swing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F33DE64-4286-0A98-32EB-B6101C0A1A46}"/>
              </a:ext>
            </a:extLst>
          </p:cNvPr>
          <p:cNvSpPr txBox="1"/>
          <p:nvPr/>
        </p:nvSpPr>
        <p:spPr>
          <a:xfrm>
            <a:off x="8632723" y="5889522"/>
            <a:ext cx="3119380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CA" b="1" dirty="0">
                <a:solidFill>
                  <a:srgbClr val="FF0000"/>
                </a:solidFill>
              </a:rPr>
              <a:t>@ 0.5Vdd with 100 mV swing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156F668-C278-6FBF-E3AE-36E761CBCBC1}"/>
              </a:ext>
            </a:extLst>
          </p:cNvPr>
          <p:cNvCxnSpPr>
            <a:stCxn id="4" idx="2"/>
          </p:cNvCxnSpPr>
          <p:nvPr/>
        </p:nvCxnSpPr>
        <p:spPr>
          <a:xfrm>
            <a:off x="3765128" y="2837229"/>
            <a:ext cx="1613116" cy="60160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5784AE5-A239-E9F4-7850-C7B09A1A65BE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6587613" y="2226577"/>
            <a:ext cx="326469" cy="69360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7B5ED13-776B-97DE-9B8D-99FBD8934277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6587613" y="2226577"/>
            <a:ext cx="326469" cy="190297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9BC8086-C6C8-F116-2659-7CED2D6A28E0}"/>
              </a:ext>
            </a:extLst>
          </p:cNvPr>
          <p:cNvCxnSpPr>
            <a:stCxn id="8" idx="1"/>
          </p:cNvCxnSpPr>
          <p:nvPr/>
        </p:nvCxnSpPr>
        <p:spPr>
          <a:xfrm flipH="1">
            <a:off x="8052620" y="2411243"/>
            <a:ext cx="678425" cy="50893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CE11B95-7E25-4C4B-3266-22C4F72E4952}"/>
              </a:ext>
            </a:extLst>
          </p:cNvPr>
          <p:cNvCxnSpPr>
            <a:cxnSpLocks/>
            <a:stCxn id="9" idx="1"/>
          </p:cNvCxnSpPr>
          <p:nvPr/>
        </p:nvCxnSpPr>
        <p:spPr>
          <a:xfrm flipH="1" flipV="1">
            <a:off x="7855975" y="4994133"/>
            <a:ext cx="776748" cy="108005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422354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E378AF-673D-0FC1-8869-838737C79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CC2E7C-604F-A704-0F52-B4F1024E7B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Equations of operation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9C90E69-B211-9E64-3024-D64765512C7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090"/>
          <a:stretch>
            <a:fillRect/>
          </a:stretch>
        </p:blipFill>
        <p:spPr>
          <a:xfrm>
            <a:off x="4285163" y="2383302"/>
            <a:ext cx="5045650" cy="38654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8D95A4C-096B-5AAA-1AFB-2035E6FAB790}"/>
              </a:ext>
            </a:extLst>
          </p:cNvPr>
          <p:cNvSpPr txBox="1"/>
          <p:nvPr/>
        </p:nvSpPr>
        <p:spPr>
          <a:xfrm>
            <a:off x="2387186" y="2467897"/>
            <a:ext cx="2755883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CA" b="1" dirty="0">
                <a:solidFill>
                  <a:srgbClr val="FF0000"/>
                </a:solidFill>
              </a:rPr>
              <a:t>@ 0.5Vdd with </a:t>
            </a:r>
            <a:r>
              <a:rPr lang="en-CA" b="1" dirty="0" err="1">
                <a:solidFill>
                  <a:srgbClr val="FF0000"/>
                </a:solidFill>
              </a:rPr>
              <a:t>Vdd</a:t>
            </a:r>
            <a:r>
              <a:rPr lang="en-CA" b="1" dirty="0">
                <a:solidFill>
                  <a:srgbClr val="FF0000"/>
                </a:solidFill>
              </a:rPr>
              <a:t> swing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21EAB7-6D85-C62D-7AE7-372811FDE666}"/>
              </a:ext>
            </a:extLst>
          </p:cNvPr>
          <p:cNvSpPr txBox="1"/>
          <p:nvPr/>
        </p:nvSpPr>
        <p:spPr>
          <a:xfrm>
            <a:off x="5378244" y="1857245"/>
            <a:ext cx="3071675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CA" b="1" dirty="0">
                <a:solidFill>
                  <a:srgbClr val="FF0000"/>
                </a:solidFill>
              </a:rPr>
              <a:t>@ 0.5Vdd with 0.5Vdd swing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600928-0D73-F972-1268-2F0EC2725FCF}"/>
              </a:ext>
            </a:extLst>
          </p:cNvPr>
          <p:cNvSpPr txBox="1"/>
          <p:nvPr/>
        </p:nvSpPr>
        <p:spPr>
          <a:xfrm>
            <a:off x="8731045" y="2226577"/>
            <a:ext cx="3195105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CA" b="1" dirty="0">
                <a:solidFill>
                  <a:srgbClr val="FF0000"/>
                </a:solidFill>
              </a:rPr>
              <a:t>@ 0.5Vdd with 0.33Vdd swing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386361-D901-EC9D-7C80-A46BBC6CBAC7}"/>
              </a:ext>
            </a:extLst>
          </p:cNvPr>
          <p:cNvSpPr txBox="1"/>
          <p:nvPr/>
        </p:nvSpPr>
        <p:spPr>
          <a:xfrm>
            <a:off x="8632723" y="5889522"/>
            <a:ext cx="3119380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CA" b="1" dirty="0">
                <a:solidFill>
                  <a:srgbClr val="FF0000"/>
                </a:solidFill>
              </a:rPr>
              <a:t>@ 0.5Vdd with 100 mV swing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E4D7B40-C011-1D25-2298-B00F907D6747}"/>
              </a:ext>
            </a:extLst>
          </p:cNvPr>
          <p:cNvCxnSpPr>
            <a:stCxn id="4" idx="2"/>
          </p:cNvCxnSpPr>
          <p:nvPr/>
        </p:nvCxnSpPr>
        <p:spPr>
          <a:xfrm>
            <a:off x="3765128" y="2837229"/>
            <a:ext cx="1613116" cy="60160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2CC9079-6F58-4823-4CFA-1E38194680EC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6587613" y="2226577"/>
            <a:ext cx="326469" cy="69360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1622A26-1D71-D6AE-DFA1-E0BB9C31E5BA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6587613" y="2226577"/>
            <a:ext cx="326469" cy="190297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E3F9268-4694-5E0B-22B8-5BE47ACB4B3D}"/>
              </a:ext>
            </a:extLst>
          </p:cNvPr>
          <p:cNvCxnSpPr>
            <a:stCxn id="8" idx="1"/>
          </p:cNvCxnSpPr>
          <p:nvPr/>
        </p:nvCxnSpPr>
        <p:spPr>
          <a:xfrm flipH="1">
            <a:off x="8052620" y="2411243"/>
            <a:ext cx="678425" cy="50893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A80F6C2-7160-1B69-1861-3F2C1D87F840}"/>
              </a:ext>
            </a:extLst>
          </p:cNvPr>
          <p:cNvCxnSpPr>
            <a:cxnSpLocks/>
            <a:stCxn id="9" idx="1"/>
          </p:cNvCxnSpPr>
          <p:nvPr/>
        </p:nvCxnSpPr>
        <p:spPr>
          <a:xfrm flipH="1" flipV="1">
            <a:off x="7855975" y="4994133"/>
            <a:ext cx="776748" cy="108005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7A9EA03D-4AE1-4F0E-48D7-E705E18DE2E3}"/>
              </a:ext>
            </a:extLst>
          </p:cNvPr>
          <p:cNvSpPr txBox="1"/>
          <p:nvPr/>
        </p:nvSpPr>
        <p:spPr>
          <a:xfrm>
            <a:off x="540787" y="3429000"/>
            <a:ext cx="285135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The paper defines 0.5Vdd (in their case 0.375V) to be the “ground reference”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2555487-681C-8D30-2049-6F4130132D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270" y="4693698"/>
            <a:ext cx="3258226" cy="1882007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1929601-1549-2834-FC36-5BDD41FAA3FC}"/>
              </a:ext>
            </a:extLst>
          </p:cNvPr>
          <p:cNvSpPr txBox="1"/>
          <p:nvPr/>
        </p:nvSpPr>
        <p:spPr>
          <a:xfrm>
            <a:off x="9355395" y="3533926"/>
            <a:ext cx="236957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This makes the TIA input node a “virtual ground”</a:t>
            </a:r>
          </a:p>
          <a:p>
            <a:endParaRPr lang="en-CA" dirty="0"/>
          </a:p>
          <a:p>
            <a:r>
              <a:rPr lang="en-CA" dirty="0"/>
              <a:t>The feedback resistor in the TIA maintains input node at 0.5Vdd</a:t>
            </a:r>
          </a:p>
        </p:txBody>
      </p:sp>
    </p:spTree>
    <p:extLst>
      <p:ext uri="{BB962C8B-B14F-4D97-AF65-F5344CB8AC3E}">
        <p14:creationId xmlns:p14="http://schemas.microsoft.com/office/powerpoint/2010/main" val="4402109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64F9F-7B80-19F2-E6AA-8EDAFEA118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This allows them to treat the TIA as a “near ideal op-amp” </a:t>
            </a:r>
            <a:r>
              <a:rPr lang="en-CA" dirty="0">
                <a:sym typeface="Wingdings" panose="05000000000000000000" pitchFamily="2" charset="2"/>
              </a:rPr>
              <a:t> TIA input draws 0 current</a:t>
            </a:r>
            <a:endParaRPr lang="en-CA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4DFC3EE-111C-3845-646F-1F400BC3614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1501"/>
          <a:stretch>
            <a:fillRect/>
          </a:stretch>
        </p:blipFill>
        <p:spPr>
          <a:xfrm>
            <a:off x="3204759" y="1942850"/>
            <a:ext cx="5782482" cy="316992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1810653-897D-3B84-3895-341ACDAB45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7601" y="5501608"/>
            <a:ext cx="5896798" cy="847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21560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2A1F0C-36C7-FF00-5FAD-0EF1DE44F5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Main driver and replica driver sizing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7AC5BD8-ABB7-348B-2506-38F24B9085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102" y="1897164"/>
            <a:ext cx="4433133" cy="394319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CE01ECA-6599-4FF4-EB91-17259B296C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4526" y="2954235"/>
            <a:ext cx="6649378" cy="1829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87914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3AEA519-960C-A205-4986-E96CF9B2D4CF}"/>
              </a:ext>
            </a:extLst>
          </p:cNvPr>
          <p:cNvSpPr txBox="1"/>
          <p:nvPr/>
        </p:nvSpPr>
        <p:spPr>
          <a:xfrm>
            <a:off x="1317522" y="588328"/>
            <a:ext cx="4628575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/>
              <a:t>Hybrid circuit design process </a:t>
            </a:r>
            <a:r>
              <a:rPr lang="en-CA" b="1" dirty="0">
                <a:solidFill>
                  <a:srgbClr val="FF0000"/>
                </a:solidFill>
                <a:highlight>
                  <a:srgbClr val="FFFF00"/>
                </a:highlight>
              </a:rPr>
              <a:t>(version 1)</a:t>
            </a:r>
          </a:p>
          <a:p>
            <a:endParaRPr lang="en-CA" dirty="0"/>
          </a:p>
          <a:p>
            <a:r>
              <a:rPr lang="en-CA" dirty="0"/>
              <a:t>Choose Rh1, Rh2</a:t>
            </a:r>
          </a:p>
          <a:p>
            <a:r>
              <a:rPr lang="en-CA" dirty="0"/>
              <a:t>Known: Rf</a:t>
            </a:r>
          </a:p>
          <a:p>
            <a:r>
              <a:rPr lang="en-CA" dirty="0"/>
              <a:t>Choose </a:t>
            </a:r>
            <a:r>
              <a:rPr lang="en-CA" dirty="0" err="1"/>
              <a:t>Rdrv</a:t>
            </a:r>
            <a:r>
              <a:rPr lang="en-CA" dirty="0"/>
              <a:t>, Rs</a:t>
            </a:r>
          </a:p>
          <a:p>
            <a:endParaRPr lang="en-CA" dirty="0"/>
          </a:p>
          <a:p>
            <a:r>
              <a:rPr lang="en-CA" dirty="0"/>
              <a:t>Calculate </a:t>
            </a:r>
            <a:r>
              <a:rPr lang="en-CA" dirty="0" err="1"/>
              <a:t>Rrep</a:t>
            </a:r>
            <a:r>
              <a:rPr lang="en-CA" dirty="0"/>
              <a:t> to ensure signal cancellation:</a:t>
            </a:r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r>
              <a:rPr lang="en-CA" dirty="0"/>
              <a:t>Calculate </a:t>
            </a:r>
            <a:r>
              <a:rPr lang="en-CA" dirty="0" err="1"/>
              <a:t>Rtx</a:t>
            </a:r>
            <a:r>
              <a:rPr lang="en-CA" dirty="0"/>
              <a:t> and change k if </a:t>
            </a:r>
            <a:r>
              <a:rPr lang="en-CA" dirty="0" err="1"/>
              <a:t>Rtx</a:t>
            </a:r>
            <a:r>
              <a:rPr lang="en-CA" dirty="0"/>
              <a:t> != Z0: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CA4B64-6B80-DF96-A288-14545E2F09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7522" y="2336862"/>
            <a:ext cx="4355688" cy="6015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72E78E8-8F9E-0113-070F-EB698883E971}"/>
              </a:ext>
            </a:extLst>
          </p:cNvPr>
          <p:cNvSpPr txBox="1"/>
          <p:nvPr/>
        </p:nvSpPr>
        <p:spPr>
          <a:xfrm>
            <a:off x="6309892" y="588328"/>
            <a:ext cx="4628575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/>
              <a:t>Hybrid circuit design process </a:t>
            </a:r>
            <a:r>
              <a:rPr lang="en-CA" b="1" dirty="0">
                <a:solidFill>
                  <a:srgbClr val="FF0000"/>
                </a:solidFill>
                <a:highlight>
                  <a:srgbClr val="FFFF00"/>
                </a:highlight>
              </a:rPr>
              <a:t>(version 2)</a:t>
            </a:r>
          </a:p>
          <a:p>
            <a:endParaRPr lang="en-CA" dirty="0"/>
          </a:p>
          <a:p>
            <a:r>
              <a:rPr lang="en-CA" dirty="0"/>
              <a:t>Choose Rh1, </a:t>
            </a:r>
            <a:r>
              <a:rPr lang="en-CA" dirty="0" err="1"/>
              <a:t>Rrep</a:t>
            </a:r>
            <a:endParaRPr lang="en-CA" dirty="0"/>
          </a:p>
          <a:p>
            <a:r>
              <a:rPr lang="en-CA" dirty="0"/>
              <a:t>Known: Rf</a:t>
            </a:r>
          </a:p>
          <a:p>
            <a:r>
              <a:rPr lang="en-CA" dirty="0"/>
              <a:t>Choose </a:t>
            </a:r>
            <a:r>
              <a:rPr lang="en-CA" dirty="0" err="1"/>
              <a:t>Rdrv</a:t>
            </a:r>
            <a:r>
              <a:rPr lang="en-CA" dirty="0"/>
              <a:t>, Rs</a:t>
            </a:r>
          </a:p>
          <a:p>
            <a:endParaRPr lang="en-CA" dirty="0"/>
          </a:p>
          <a:p>
            <a:r>
              <a:rPr lang="en-CA" dirty="0"/>
              <a:t>Calculate Rh2 to ensure signal cancellation:</a:t>
            </a:r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r>
              <a:rPr lang="en-CA" dirty="0"/>
              <a:t>Calculate </a:t>
            </a:r>
            <a:r>
              <a:rPr lang="en-CA" dirty="0" err="1"/>
              <a:t>Rtx</a:t>
            </a:r>
            <a:r>
              <a:rPr lang="en-CA" dirty="0"/>
              <a:t> and change k if </a:t>
            </a:r>
            <a:r>
              <a:rPr lang="en-CA" dirty="0" err="1"/>
              <a:t>Rtx</a:t>
            </a:r>
            <a:r>
              <a:rPr lang="en-CA" dirty="0"/>
              <a:t> != Z0: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458ECC4-89F8-9725-CB3A-6CD2DFA606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892" y="2336862"/>
            <a:ext cx="4355688" cy="6015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0CFF0E7-9C59-6758-0AEF-F98F2B3794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3723" y="3727649"/>
            <a:ext cx="7144747" cy="2753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03390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E0714D1-F616-068D-3E4C-DA639B1E97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1784" y="1733313"/>
            <a:ext cx="6668431" cy="339137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95E9982-79D0-D040-54A5-AD48A149C0E7}"/>
              </a:ext>
            </a:extLst>
          </p:cNvPr>
          <p:cNvSpPr txBox="1"/>
          <p:nvPr/>
        </p:nvSpPr>
        <p:spPr>
          <a:xfrm>
            <a:off x="9871587" y="3429000"/>
            <a:ext cx="1884985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Making Rs = </a:t>
            </a:r>
            <a:r>
              <a:rPr lang="en-US" dirty="0" err="1"/>
              <a:t>Rdrv</a:t>
            </a:r>
            <a:r>
              <a:rPr lang="en-US" dirty="0"/>
              <a:t> maximizes linearity by keeping the nonlinear contribution (</a:t>
            </a:r>
            <a:r>
              <a:rPr lang="en-US" dirty="0" err="1"/>
              <a:t>Rdrv</a:t>
            </a:r>
            <a:r>
              <a:rPr lang="en-US" dirty="0"/>
              <a:t>(V)) to half of the total output impedance.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4299735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1A70818-EC77-6229-8F46-A3403B8316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83808"/>
            <a:ext cx="12192000" cy="482842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026D3CC-86F2-1992-1AD2-F735748E4F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CA" sz="2800" dirty="0"/>
              <a:t>I tried a different </a:t>
            </a:r>
            <a:r>
              <a:rPr lang="en-CA" sz="2800" dirty="0" err="1"/>
              <a:t>Rdrv</a:t>
            </a:r>
            <a:r>
              <a:rPr lang="en-CA" sz="2800" dirty="0"/>
              <a:t>, </a:t>
            </a:r>
            <a:r>
              <a:rPr lang="en-CA" sz="2800" dirty="0" err="1"/>
              <a:t>Rrep</a:t>
            </a:r>
            <a:r>
              <a:rPr lang="en-CA" sz="2800" dirty="0"/>
              <a:t> configuration </a:t>
            </a:r>
            <a:br>
              <a:rPr lang="en-CA" sz="2800" dirty="0"/>
            </a:br>
            <a:r>
              <a:rPr lang="en-CA" sz="2800" dirty="0"/>
              <a:t>1) to remove the Rh1 &gt;&gt; Rs issue</a:t>
            </a:r>
            <a:br>
              <a:rPr lang="en-CA" sz="2800" dirty="0"/>
            </a:br>
            <a:r>
              <a:rPr lang="en-CA" sz="2800" dirty="0"/>
              <a:t>2) since we established that replicas are typically 5x smaller to reduce power consumption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D57D46-72A2-1C60-6CCB-CA24166A9126}"/>
              </a:ext>
            </a:extLst>
          </p:cNvPr>
          <p:cNvSpPr txBox="1"/>
          <p:nvPr/>
        </p:nvSpPr>
        <p:spPr>
          <a:xfrm>
            <a:off x="2613328" y="3353554"/>
            <a:ext cx="1643399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Last time:</a:t>
            </a:r>
          </a:p>
          <a:p>
            <a:r>
              <a:rPr lang="en-CA" dirty="0" err="1">
                <a:solidFill>
                  <a:schemeClr val="bg1"/>
                </a:solidFill>
              </a:rPr>
              <a:t>Rdrv</a:t>
            </a:r>
            <a:r>
              <a:rPr lang="en-CA" dirty="0">
                <a:solidFill>
                  <a:schemeClr val="bg1"/>
                </a:solidFill>
              </a:rPr>
              <a:t> = 110</a:t>
            </a:r>
          </a:p>
          <a:p>
            <a:r>
              <a:rPr lang="en-CA" dirty="0" err="1">
                <a:solidFill>
                  <a:schemeClr val="bg1"/>
                </a:solidFill>
              </a:rPr>
              <a:t>Rrep</a:t>
            </a:r>
            <a:r>
              <a:rPr lang="en-CA" dirty="0">
                <a:solidFill>
                  <a:schemeClr val="bg1"/>
                </a:solidFill>
              </a:rPr>
              <a:t> = 110</a:t>
            </a:r>
          </a:p>
          <a:p>
            <a:r>
              <a:rPr lang="en-CA" dirty="0">
                <a:solidFill>
                  <a:schemeClr val="bg1"/>
                </a:solidFill>
              </a:rPr>
              <a:t>Rh1 = </a:t>
            </a:r>
            <a:r>
              <a:rPr lang="en-CA" strike="sngStrike" dirty="0">
                <a:solidFill>
                  <a:schemeClr val="bg1"/>
                </a:solidFill>
              </a:rPr>
              <a:t>52.5</a:t>
            </a:r>
            <a:r>
              <a:rPr lang="en-CA" dirty="0">
                <a:solidFill>
                  <a:schemeClr val="bg1"/>
                </a:solidFill>
              </a:rPr>
              <a:t> 100</a:t>
            </a:r>
          </a:p>
          <a:p>
            <a:r>
              <a:rPr lang="en-CA" dirty="0">
                <a:solidFill>
                  <a:schemeClr val="bg1"/>
                </a:solidFill>
              </a:rPr>
              <a:t>Rh2 = 268</a:t>
            </a:r>
          </a:p>
          <a:p>
            <a:endParaRPr lang="en-CA" dirty="0">
              <a:solidFill>
                <a:schemeClr val="bg1"/>
              </a:solidFill>
            </a:endParaRPr>
          </a:p>
          <a:p>
            <a:r>
              <a:rPr lang="en-CA" dirty="0">
                <a:solidFill>
                  <a:schemeClr val="bg1"/>
                </a:solidFill>
              </a:rPr>
              <a:t>This time:</a:t>
            </a:r>
          </a:p>
          <a:p>
            <a:r>
              <a:rPr lang="en-CA" dirty="0" err="1">
                <a:solidFill>
                  <a:schemeClr val="bg1"/>
                </a:solidFill>
              </a:rPr>
              <a:t>Rdrv</a:t>
            </a:r>
            <a:r>
              <a:rPr lang="en-CA" dirty="0">
                <a:solidFill>
                  <a:schemeClr val="bg1"/>
                </a:solidFill>
              </a:rPr>
              <a:t> = 55</a:t>
            </a:r>
          </a:p>
          <a:p>
            <a:r>
              <a:rPr lang="en-CA" dirty="0" err="1">
                <a:solidFill>
                  <a:schemeClr val="bg1"/>
                </a:solidFill>
              </a:rPr>
              <a:t>Rrep</a:t>
            </a:r>
            <a:r>
              <a:rPr lang="en-CA" dirty="0">
                <a:solidFill>
                  <a:schemeClr val="bg1"/>
                </a:solidFill>
              </a:rPr>
              <a:t> = 275</a:t>
            </a:r>
          </a:p>
          <a:p>
            <a:r>
              <a:rPr lang="en-CA" dirty="0">
                <a:solidFill>
                  <a:schemeClr val="bg1"/>
                </a:solidFill>
              </a:rPr>
              <a:t>Rh1 = 918</a:t>
            </a:r>
          </a:p>
          <a:p>
            <a:r>
              <a:rPr lang="en-CA" dirty="0">
                <a:solidFill>
                  <a:schemeClr val="bg1"/>
                </a:solidFill>
              </a:rPr>
              <a:t>Rh2 = 1675</a:t>
            </a:r>
          </a:p>
        </p:txBody>
      </p:sp>
    </p:spTree>
    <p:extLst>
      <p:ext uri="{BB962C8B-B14F-4D97-AF65-F5344CB8AC3E}">
        <p14:creationId xmlns:p14="http://schemas.microsoft.com/office/powerpoint/2010/main" val="20974294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5D7F17-E339-2FDF-8013-41C8132DA1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Result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4C1D1EB-9DF4-416F-C796-1CE08E0331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50259"/>
            <a:ext cx="12192000" cy="4542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68058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61E59-5334-BC6B-3E1B-7130E0FCB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sz="4000" dirty="0"/>
              <a:t>Measured channel propagation delay = 3.77ns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5D3E046-37CD-2B33-6001-22769E19B9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56612"/>
            <a:ext cx="12192000" cy="453626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C5DA0E2-3E1B-F689-F8B4-5AB578A877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5715" y="3268309"/>
            <a:ext cx="3915119" cy="1559330"/>
          </a:xfrm>
          <a:prstGeom prst="rect">
            <a:avLst/>
          </a:prstGeom>
          <a:ln w="76200">
            <a:solidFill>
              <a:schemeClr val="bg1"/>
            </a:solidFill>
          </a:ln>
        </p:spPr>
      </p:pic>
    </p:spTree>
    <p:extLst>
      <p:ext uri="{BB962C8B-B14F-4D97-AF65-F5344CB8AC3E}">
        <p14:creationId xmlns:p14="http://schemas.microsoft.com/office/powerpoint/2010/main" val="22945564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70B92D-2CBE-EF93-BDDF-923BD3D3C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Result with modified time delay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E5EA26C-A6FD-97AE-492E-065E512E1D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69319"/>
            <a:ext cx="12192000" cy="4523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19734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8E992C-AA7D-5483-6026-2325F00D6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A closer look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7516D9C-6F84-4E0C-C4B5-D2F3729636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90688"/>
            <a:ext cx="12192000" cy="4523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29916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473801-8816-BA5D-4D34-8DCBC35C6B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Workaround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3F4320B-53AE-72A0-9E8A-1897EDF8B6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28452"/>
            <a:ext cx="12192000" cy="4464423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2972BBF-A8C3-0E0A-AF34-02D38F194A07}"/>
              </a:ext>
            </a:extLst>
          </p:cNvPr>
          <p:cNvSpPr/>
          <p:nvPr/>
        </p:nvSpPr>
        <p:spPr>
          <a:xfrm>
            <a:off x="9261987" y="4994787"/>
            <a:ext cx="1730478" cy="1425678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99808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2ECF52C-20ED-9010-1C11-F149153AB32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4071"/>
          <a:stretch>
            <a:fillRect/>
          </a:stretch>
        </p:blipFill>
        <p:spPr>
          <a:xfrm>
            <a:off x="6096000" y="1460460"/>
            <a:ext cx="6095999" cy="494525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E2890CA-837C-8106-E35B-67A60FBF92F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3897"/>
          <a:stretch>
            <a:fillRect/>
          </a:stretch>
        </p:blipFill>
        <p:spPr>
          <a:xfrm>
            <a:off x="0" y="1479160"/>
            <a:ext cx="6096001" cy="492655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3E4E7EA-E775-1ABF-12DE-BB9B8D40C0CD}"/>
              </a:ext>
            </a:extLst>
          </p:cNvPr>
          <p:cNvSpPr txBox="1"/>
          <p:nvPr/>
        </p:nvSpPr>
        <p:spPr>
          <a:xfrm>
            <a:off x="2280803" y="771274"/>
            <a:ext cx="153439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000" dirty="0"/>
              <a:t>100 </a:t>
            </a:r>
            <a:r>
              <a:rPr lang="en-CA" sz="4000" dirty="0" err="1"/>
              <a:t>fF</a:t>
            </a:r>
            <a:endParaRPr lang="en-CA" sz="4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38B5AB-63B7-46E8-54C1-65A239C8E20C}"/>
              </a:ext>
            </a:extLst>
          </p:cNvPr>
          <p:cNvSpPr txBox="1"/>
          <p:nvPr/>
        </p:nvSpPr>
        <p:spPr>
          <a:xfrm>
            <a:off x="8376803" y="771274"/>
            <a:ext cx="153439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000" dirty="0"/>
              <a:t>200 </a:t>
            </a:r>
            <a:r>
              <a:rPr lang="en-CA" sz="4000" dirty="0" err="1"/>
              <a:t>fF</a:t>
            </a:r>
            <a:endParaRPr lang="en-CA" sz="4000" dirty="0"/>
          </a:p>
        </p:txBody>
      </p:sp>
    </p:spTree>
    <p:extLst>
      <p:ext uri="{BB962C8B-B14F-4D97-AF65-F5344CB8AC3E}">
        <p14:creationId xmlns:p14="http://schemas.microsoft.com/office/powerpoint/2010/main" val="37816977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291</TotalTime>
  <Words>343</Words>
  <Application>Microsoft Office PowerPoint</Application>
  <PresentationFormat>Widescreen</PresentationFormat>
  <Paragraphs>68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Aptos</vt:lpstr>
      <vt:lpstr>Aptos Display</vt:lpstr>
      <vt:lpstr>Arial</vt:lpstr>
      <vt:lpstr>Wingdings</vt:lpstr>
      <vt:lpstr>Office Theme</vt:lpstr>
      <vt:lpstr>November 26</vt:lpstr>
      <vt:lpstr>Things to discuss</vt:lpstr>
      <vt:lpstr>Odd behavior observed last time: Rh1 = 52.5  Rh1 = 100</vt:lpstr>
      <vt:lpstr>Explanation</vt:lpstr>
      <vt:lpstr>Equations of operation</vt:lpstr>
      <vt:lpstr>Equations of operation</vt:lpstr>
      <vt:lpstr>This allows them to treat the TIA as a “near ideal op-amp”  TIA input draws 0 current</vt:lpstr>
      <vt:lpstr>Main driver and replica driver sizing</vt:lpstr>
      <vt:lpstr>PowerPoint Presentation</vt:lpstr>
      <vt:lpstr>PowerPoint Presentation</vt:lpstr>
      <vt:lpstr>I tried a different Rdrv, Rrep configuration  1) to remove the Rh1 &gt;&gt; Rs issue 2) since we established that replicas are typically 5x smaller to reduce power consumption</vt:lpstr>
      <vt:lpstr>Result</vt:lpstr>
      <vt:lpstr>Measured channel propagation delay = 3.77ns</vt:lpstr>
      <vt:lpstr>Result with modified time delay</vt:lpstr>
      <vt:lpstr>A closer look</vt:lpstr>
      <vt:lpstr>Workaround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Satvick Acharya</dc:creator>
  <cp:lastModifiedBy>Satvick Acharya</cp:lastModifiedBy>
  <cp:revision>57</cp:revision>
  <dcterms:created xsi:type="dcterms:W3CDTF">2025-11-24T18:21:09Z</dcterms:created>
  <dcterms:modified xsi:type="dcterms:W3CDTF">2025-11-26T19:57:10Z</dcterms:modified>
</cp:coreProperties>
</file>