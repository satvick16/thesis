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4" r:id="rId4"/>
    <p:sldId id="258" r:id="rId5"/>
    <p:sldId id="263" r:id="rId6"/>
    <p:sldId id="266" r:id="rId7"/>
    <p:sldId id="269" r:id="rId8"/>
    <p:sldId id="267" r:id="rId9"/>
    <p:sldId id="268" r:id="rId10"/>
    <p:sldId id="265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208F-1EBF-172D-DC8D-965FBFA59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4D3C1-99F1-E329-8D83-476860BFC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E0F9E-7239-7396-3E9F-EA8BCAAEA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27465-F34F-CA5A-57DF-F524CAC2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EEF3E-00CB-3ACC-C0E3-D8C8E24B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065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AF56-A393-D0DB-5A9F-3E08E096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F3C29-023F-C272-C590-3D1DACAC0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EA597-3A89-0D43-0938-C457A83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CAEE3-6B20-11E7-1EEB-30515F63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6C95-0890-6F51-1EFD-D8F5FE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714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A60B-582E-E89C-BE44-DFE5FE42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DA4C5-6388-319B-1C9A-6B61FBA17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21C95-933F-3A02-5F12-768CAD1C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02D49-63BA-7CB2-BD30-0B34A457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DF815-C9B0-9663-2B8B-53B4A08F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9696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28AE-7540-D5FB-38C1-61D487BD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97E-7453-49ED-CEAD-65BEDF550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946D1-BAB4-D0B3-30F3-95C9B6F1E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56AD0-7664-D574-B0F5-7B7BC037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4C739-E9D5-C5DA-E08E-04B06F4B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5AADF-8E94-C436-8F3E-C141F6C1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703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242F-6856-877E-A7D8-A85932E2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2680C-12A1-4919-D747-1F03478F0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298B3-A746-156C-6FD5-BCA8F4512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9360D-3D07-4423-70D0-0B39CA31E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DEA68-B3CF-C45D-75BD-5694DF9B8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54AF0-5E03-3E49-DE1A-E98655C3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0EF1FE-A869-22BC-CBA6-2AC4E478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74AE4C-3CF7-01A6-B666-F0FA8C29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706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2CAE-C786-C0A4-4961-3B00CC4D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EA76D-D2B8-4528-9DAF-2C4BCAA5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4A59F-CC3C-B9A5-F7AB-09589E8C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CF814-138E-683A-BDED-C078C326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143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F5042-BCEF-A22B-8466-AE505B31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86A99-F777-CFAA-D066-DC27A9C9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07CFA-F602-2EA1-DBD6-FD5917C0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72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C498-6943-37D2-6167-15609825C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750C-2647-C644-39F4-D15EBDF6E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CF48A-2370-F68B-D857-A9E543E6B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BC52B-0EA6-6ED0-6955-D0F0B9AA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041A7-13D5-E148-AF16-0F81B7EB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00C3-BA19-D4C9-4748-8A33F4BE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08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08F8-A8AE-BCA9-80B7-620AC421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17A9E-3D86-5929-50DB-11826844A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0DE80-7BDF-C2DA-602C-2F5C49829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0EF09-594F-B6AE-D0CD-C8742630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A8069-8157-AA47-E747-521F8DAC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2DD24-10B6-43DF-A440-A3D66682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325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E7CC-4C76-4598-D149-92724B21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DB8CF-3657-A7D0-9AFB-7673DE670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69055-20D6-1226-DB67-BB8A3B46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367C5-1984-478E-EAF0-323B7DDA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7175D-F964-4B5A-04AC-45EB1D73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5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BA32F-7B63-FF5D-A596-75A2D307D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F9452-D65F-D612-A2E7-FA725855E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03D2D-6C11-70D8-45AA-1A856FD0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EE457-83E8-8469-F47C-F8134039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4FAC6-127F-C7C1-F7F9-13364F49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65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D8D06-6B55-A338-0D35-2762D0E7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66EA3-2310-1FAB-6B17-99F508D30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DAE2A-0A59-7FF4-DA38-BE85D5901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B485F-B328-492C-8EEF-152C77AEF2A4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26CBA-8301-AD89-F7A2-A00424B96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2ED7B-55AB-28C3-7CF7-6476423BF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EE86A-47A6-4F1D-BB0B-545157FA94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42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4DFA3-2E05-9656-7C69-B3228D0D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717" y="0"/>
            <a:ext cx="482656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B85AD2-3D4E-9815-C894-FCBD3CEAAD87}"/>
              </a:ext>
            </a:extLst>
          </p:cNvPr>
          <p:cNvSpPr txBox="1"/>
          <p:nvPr/>
        </p:nvSpPr>
        <p:spPr>
          <a:xfrm>
            <a:off x="845574" y="1524000"/>
            <a:ext cx="22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Input stimulus signal</a:t>
            </a:r>
          </a:p>
        </p:txBody>
      </p:sp>
    </p:spTree>
    <p:extLst>
      <p:ext uri="{BB962C8B-B14F-4D97-AF65-F5344CB8AC3E}">
        <p14:creationId xmlns:p14="http://schemas.microsoft.com/office/powerpoint/2010/main" val="392502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2EEC2-1F0E-4C3F-F7C9-C9295E283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18" y="1047928"/>
            <a:ext cx="5640269" cy="4762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78EAAC-5CA4-1459-1FD5-621B6F0696B5}"/>
              </a:ext>
            </a:extLst>
          </p:cNvPr>
          <p:cNvSpPr txBox="1"/>
          <p:nvPr/>
        </p:nvSpPr>
        <p:spPr>
          <a:xfrm>
            <a:off x="6995910" y="458089"/>
            <a:ext cx="4364400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Parameters from paper:</a:t>
            </a:r>
          </a:p>
          <a:p>
            <a:endParaRPr lang="en-CA" sz="3200" dirty="0"/>
          </a:p>
          <a:p>
            <a:r>
              <a:rPr lang="en-CA" sz="3200" dirty="0" err="1"/>
              <a:t>Rdrv</a:t>
            </a:r>
            <a:r>
              <a:rPr lang="en-CA" sz="3200" dirty="0"/>
              <a:t> = 22.5</a:t>
            </a:r>
          </a:p>
          <a:p>
            <a:r>
              <a:rPr lang="en-CA" sz="3200" dirty="0"/>
              <a:t>Rs = 22.5</a:t>
            </a:r>
          </a:p>
          <a:p>
            <a:r>
              <a:rPr lang="en-CA" sz="3200" dirty="0"/>
              <a:t>Rh1 = 190</a:t>
            </a:r>
          </a:p>
          <a:p>
            <a:r>
              <a:rPr lang="en-CA" sz="3200" dirty="0"/>
              <a:t>Rh2 = 250</a:t>
            </a:r>
          </a:p>
          <a:p>
            <a:r>
              <a:rPr lang="en-CA" sz="3200" dirty="0"/>
              <a:t>Rf = 1.2k</a:t>
            </a:r>
          </a:p>
          <a:p>
            <a:r>
              <a:rPr lang="en-CA" sz="3200" dirty="0" err="1"/>
              <a:t>Rtia</a:t>
            </a:r>
            <a:r>
              <a:rPr lang="en-CA" sz="3200" dirty="0"/>
              <a:t> = 200</a:t>
            </a:r>
          </a:p>
          <a:p>
            <a:r>
              <a:rPr lang="en-CA" sz="3200" dirty="0" err="1">
                <a:solidFill>
                  <a:srgbClr val="FF0000"/>
                </a:solidFill>
              </a:rPr>
              <a:t>Rch</a:t>
            </a:r>
            <a:r>
              <a:rPr lang="en-CA" sz="3200" dirty="0">
                <a:solidFill>
                  <a:srgbClr val="FF0000"/>
                </a:solidFill>
              </a:rPr>
              <a:t> = 21.5</a:t>
            </a:r>
          </a:p>
          <a:p>
            <a:r>
              <a:rPr lang="en-CA" sz="3200" dirty="0">
                <a:solidFill>
                  <a:srgbClr val="FF0000"/>
                </a:solidFill>
              </a:rPr>
              <a:t>Z0 = 40</a:t>
            </a:r>
          </a:p>
          <a:p>
            <a:endParaRPr lang="en-CA" sz="3200" dirty="0"/>
          </a:p>
          <a:p>
            <a:r>
              <a:rPr lang="en-CA" sz="3200" dirty="0" err="1"/>
              <a:t>Rrep</a:t>
            </a:r>
            <a:r>
              <a:rPr lang="en-CA" sz="3200" dirty="0"/>
              <a:t> = 124 (tuned)</a:t>
            </a:r>
          </a:p>
        </p:txBody>
      </p:sp>
    </p:spTree>
    <p:extLst>
      <p:ext uri="{BB962C8B-B14F-4D97-AF65-F5344CB8AC3E}">
        <p14:creationId xmlns:p14="http://schemas.microsoft.com/office/powerpoint/2010/main" val="2379069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AEA519-960C-A205-4986-E96CF9B2D4CF}"/>
              </a:ext>
            </a:extLst>
          </p:cNvPr>
          <p:cNvSpPr txBox="1"/>
          <p:nvPr/>
        </p:nvSpPr>
        <p:spPr>
          <a:xfrm>
            <a:off x="1317522" y="588328"/>
            <a:ext cx="4628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Hybrid circuit design process </a:t>
            </a:r>
            <a:r>
              <a:rPr lang="en-CA" b="1" dirty="0">
                <a:solidFill>
                  <a:srgbClr val="FF0000"/>
                </a:solidFill>
                <a:highlight>
                  <a:srgbClr val="FFFF00"/>
                </a:highlight>
              </a:rPr>
              <a:t>(version 1)</a:t>
            </a:r>
          </a:p>
          <a:p>
            <a:endParaRPr lang="en-CA" dirty="0"/>
          </a:p>
          <a:p>
            <a:r>
              <a:rPr lang="en-CA" dirty="0"/>
              <a:t>Choose Rh1, Rh2</a:t>
            </a:r>
          </a:p>
          <a:p>
            <a:r>
              <a:rPr lang="en-CA" dirty="0"/>
              <a:t>Known: Rf</a:t>
            </a:r>
          </a:p>
          <a:p>
            <a:r>
              <a:rPr lang="en-CA" dirty="0"/>
              <a:t>Choose </a:t>
            </a:r>
            <a:r>
              <a:rPr lang="en-CA" dirty="0" err="1"/>
              <a:t>Rdrv</a:t>
            </a:r>
            <a:r>
              <a:rPr lang="en-CA" dirty="0"/>
              <a:t>, Rs</a:t>
            </a:r>
          </a:p>
          <a:p>
            <a:endParaRPr lang="en-CA" dirty="0"/>
          </a:p>
          <a:p>
            <a:r>
              <a:rPr lang="en-CA" dirty="0"/>
              <a:t>Calculate </a:t>
            </a:r>
            <a:r>
              <a:rPr lang="en-CA" dirty="0" err="1"/>
              <a:t>Rrep</a:t>
            </a:r>
            <a:r>
              <a:rPr lang="en-CA" dirty="0"/>
              <a:t> to ensure signal cancellation: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Calculate </a:t>
            </a:r>
            <a:r>
              <a:rPr lang="en-CA" dirty="0" err="1"/>
              <a:t>Rtx</a:t>
            </a:r>
            <a:r>
              <a:rPr lang="en-CA" dirty="0"/>
              <a:t> and change k if </a:t>
            </a:r>
            <a:r>
              <a:rPr lang="en-CA" dirty="0" err="1"/>
              <a:t>Rtx</a:t>
            </a:r>
            <a:r>
              <a:rPr lang="en-CA" dirty="0"/>
              <a:t> != Z0: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A4B64-6B80-DF96-A288-14545E2F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2" y="2336862"/>
            <a:ext cx="4355688" cy="601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2E78E8-8F9E-0113-070F-EB698883E971}"/>
              </a:ext>
            </a:extLst>
          </p:cNvPr>
          <p:cNvSpPr txBox="1"/>
          <p:nvPr/>
        </p:nvSpPr>
        <p:spPr>
          <a:xfrm>
            <a:off x="6309892" y="588328"/>
            <a:ext cx="4628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Hybrid circuit design process </a:t>
            </a:r>
            <a:r>
              <a:rPr lang="en-CA" b="1" dirty="0">
                <a:solidFill>
                  <a:srgbClr val="FF0000"/>
                </a:solidFill>
                <a:highlight>
                  <a:srgbClr val="FFFF00"/>
                </a:highlight>
              </a:rPr>
              <a:t>(version 2)</a:t>
            </a:r>
          </a:p>
          <a:p>
            <a:endParaRPr lang="en-CA" dirty="0"/>
          </a:p>
          <a:p>
            <a:r>
              <a:rPr lang="en-CA" dirty="0"/>
              <a:t>Choose Rh1, </a:t>
            </a:r>
            <a:r>
              <a:rPr lang="en-CA" dirty="0" err="1"/>
              <a:t>Rrep</a:t>
            </a:r>
            <a:endParaRPr lang="en-CA" dirty="0"/>
          </a:p>
          <a:p>
            <a:r>
              <a:rPr lang="en-CA" dirty="0"/>
              <a:t>Known: Rf</a:t>
            </a:r>
          </a:p>
          <a:p>
            <a:r>
              <a:rPr lang="en-CA" dirty="0"/>
              <a:t>Choose </a:t>
            </a:r>
            <a:r>
              <a:rPr lang="en-CA" dirty="0" err="1"/>
              <a:t>Rdrv</a:t>
            </a:r>
            <a:r>
              <a:rPr lang="en-CA" dirty="0"/>
              <a:t>, Rs</a:t>
            </a:r>
          </a:p>
          <a:p>
            <a:endParaRPr lang="en-CA" dirty="0"/>
          </a:p>
          <a:p>
            <a:r>
              <a:rPr lang="en-CA" dirty="0"/>
              <a:t>Calculate Rh2 to ensure signal cancellation: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Calculate </a:t>
            </a:r>
            <a:r>
              <a:rPr lang="en-CA" dirty="0" err="1"/>
              <a:t>Rtx</a:t>
            </a:r>
            <a:r>
              <a:rPr lang="en-CA" dirty="0"/>
              <a:t> and change k if </a:t>
            </a:r>
            <a:r>
              <a:rPr lang="en-CA" dirty="0" err="1"/>
              <a:t>Rtx</a:t>
            </a:r>
            <a:r>
              <a:rPr lang="en-CA" dirty="0"/>
              <a:t> != Z0: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58ECC4-89F8-9725-CB3A-6CD2DFA60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892" y="2336862"/>
            <a:ext cx="4355688" cy="60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CFF0E7-9C59-6758-0AEF-F98F2B379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723" y="3727649"/>
            <a:ext cx="7144747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3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E641B-FF58-3906-E2FE-837223F38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3" y="358042"/>
            <a:ext cx="3392128" cy="2974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9FD9DC-8A94-D7A7-77DD-B4A8C7D80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60"/>
          <a:stretch>
            <a:fillRect/>
          </a:stretch>
        </p:blipFill>
        <p:spPr>
          <a:xfrm>
            <a:off x="4267200" y="348210"/>
            <a:ext cx="7686434" cy="2974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478707-471D-5931-AD55-79CE99438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83" y="3544851"/>
            <a:ext cx="3417032" cy="26967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0FD456-2A5C-EBFB-B43C-9F6E3883D516}"/>
              </a:ext>
            </a:extLst>
          </p:cNvPr>
          <p:cNvSpPr txBox="1"/>
          <p:nvPr/>
        </p:nvSpPr>
        <p:spPr>
          <a:xfrm>
            <a:off x="8485239" y="1091380"/>
            <a:ext cx="1101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chemeClr val="bg1"/>
                </a:solidFill>
              </a:rPr>
              <a:t>Rdrv</a:t>
            </a:r>
            <a:r>
              <a:rPr lang="en-CA" dirty="0">
                <a:solidFill>
                  <a:schemeClr val="bg1"/>
                </a:solidFill>
              </a:rPr>
              <a:t> = 39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C3A02E-91F9-9BB6-0D7B-B633A390B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105" y="3535018"/>
            <a:ext cx="7725529" cy="29747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03DBBE-212B-DA87-1F7A-0DB43E76BF83}"/>
              </a:ext>
            </a:extLst>
          </p:cNvPr>
          <p:cNvSpPr txBox="1"/>
          <p:nvPr/>
        </p:nvSpPr>
        <p:spPr>
          <a:xfrm>
            <a:off x="8418009" y="4066153"/>
            <a:ext cx="1236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chemeClr val="bg1"/>
                </a:solidFill>
              </a:rPr>
              <a:t>Rrep</a:t>
            </a:r>
            <a:r>
              <a:rPr lang="en-CA" dirty="0">
                <a:solidFill>
                  <a:schemeClr val="bg1"/>
                </a:solidFill>
              </a:rPr>
              <a:t> = 273</a:t>
            </a:r>
          </a:p>
        </p:txBody>
      </p:sp>
    </p:spTree>
    <p:extLst>
      <p:ext uri="{BB962C8B-B14F-4D97-AF65-F5344CB8AC3E}">
        <p14:creationId xmlns:p14="http://schemas.microsoft.com/office/powerpoint/2010/main" val="140066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36A018-D2CA-6D5D-E0A6-D5A0C239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60" y="952154"/>
            <a:ext cx="7887801" cy="4953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AFA451-0FF9-3ADD-F6E8-76B0286A7CA3}"/>
              </a:ext>
            </a:extLst>
          </p:cNvPr>
          <p:cNvSpPr txBox="1"/>
          <p:nvPr/>
        </p:nvSpPr>
        <p:spPr>
          <a:xfrm>
            <a:off x="816077" y="2448232"/>
            <a:ext cx="2428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Channel:</a:t>
            </a:r>
          </a:p>
          <a:p>
            <a:endParaRPr lang="en-CA" dirty="0"/>
          </a:p>
          <a:p>
            <a:r>
              <a:rPr lang="en-CA" dirty="0"/>
              <a:t>Nvidia paper uses single-ended signaling but the s4p file assumes differential signaling</a:t>
            </a:r>
          </a:p>
        </p:txBody>
      </p:sp>
    </p:spTree>
    <p:extLst>
      <p:ext uri="{BB962C8B-B14F-4D97-AF65-F5344CB8AC3E}">
        <p14:creationId xmlns:p14="http://schemas.microsoft.com/office/powerpoint/2010/main" val="57650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79F7A-7A0F-5A94-EDD4-097BAD111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216" y="2360561"/>
            <a:ext cx="6334894" cy="3543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BEF186-2558-556D-687C-3B12EA01ACE3}"/>
              </a:ext>
            </a:extLst>
          </p:cNvPr>
          <p:cNvSpPr txBox="1"/>
          <p:nvPr/>
        </p:nvSpPr>
        <p:spPr>
          <a:xfrm>
            <a:off x="973394" y="629265"/>
            <a:ext cx="55336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Finding </a:t>
            </a:r>
            <a:r>
              <a:rPr lang="en-CA" b="1" dirty="0" err="1"/>
              <a:t>Rch</a:t>
            </a:r>
            <a:r>
              <a:rPr lang="en-CA" b="1" dirty="0"/>
              <a:t> of the channel described by the s4p file</a:t>
            </a:r>
          </a:p>
          <a:p>
            <a:endParaRPr lang="en-CA" b="1" dirty="0"/>
          </a:p>
          <a:p>
            <a:r>
              <a:rPr lang="en-CA" dirty="0" err="1"/>
              <a:t>Rch</a:t>
            </a:r>
            <a:r>
              <a:rPr lang="en-CA" dirty="0"/>
              <a:t> = 0.9 ohms???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51C6E-EE76-F65A-7133-01B0A11FD8BA}"/>
              </a:ext>
            </a:extLst>
          </p:cNvPr>
          <p:cNvSpPr txBox="1"/>
          <p:nvPr/>
        </p:nvSpPr>
        <p:spPr>
          <a:xfrm>
            <a:off x="5524663" y="252689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V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9FC7D-970E-3632-1A0A-09E30B43E782}"/>
              </a:ext>
            </a:extLst>
          </p:cNvPr>
          <p:cNvSpPr txBox="1"/>
          <p:nvPr/>
        </p:nvSpPr>
        <p:spPr>
          <a:xfrm>
            <a:off x="10470291" y="252689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V = 0.917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C8B737-2B38-73C9-7D1F-10E6C1489E2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191833" y="2711556"/>
            <a:ext cx="483204" cy="49375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03EAAB-3C4A-E22F-0E79-7F822CD7B60E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762366" y="2711556"/>
            <a:ext cx="707925" cy="49375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097FA26-C10D-6CEF-3908-DFB78E71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7" y="2805680"/>
            <a:ext cx="4227153" cy="26708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267DAB-1F0B-88A4-3DC3-AA7C43BAC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746" y="297372"/>
            <a:ext cx="4062363" cy="150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1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206EDE-8C97-5387-45B4-90B2F909266B}"/>
              </a:ext>
            </a:extLst>
          </p:cNvPr>
          <p:cNvSpPr txBox="1"/>
          <p:nvPr/>
        </p:nvSpPr>
        <p:spPr>
          <a:xfrm>
            <a:off x="5161935" y="1209368"/>
            <a:ext cx="29935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Transimpedance amplifier:</a:t>
            </a:r>
          </a:p>
          <a:p>
            <a:endParaRPr lang="en-CA" dirty="0"/>
          </a:p>
          <a:p>
            <a:r>
              <a:rPr lang="en-CA" dirty="0" err="1"/>
              <a:t>Rtia</a:t>
            </a:r>
            <a:r>
              <a:rPr lang="en-CA" dirty="0"/>
              <a:t> = Rf / (1 + Av) = 677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FA4B4-A2E7-2481-66D9-16FDE6999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671" y="3318647"/>
            <a:ext cx="9183329" cy="3539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3D473F-D882-11EA-9EB2-5EE3D78F7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01729" cy="323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7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F458-0B0E-810E-C81A-1F225269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BF4A4-9989-8D90-B96C-C65832599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18" y="1047928"/>
            <a:ext cx="5640269" cy="4762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42B6F5-B091-0807-FD6A-4E13BBCEC631}"/>
              </a:ext>
            </a:extLst>
          </p:cNvPr>
          <p:cNvSpPr txBox="1"/>
          <p:nvPr/>
        </p:nvSpPr>
        <p:spPr>
          <a:xfrm>
            <a:off x="6995910" y="526915"/>
            <a:ext cx="3193503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My parameters:</a:t>
            </a:r>
          </a:p>
          <a:p>
            <a:endParaRPr lang="en-CA" sz="2800" dirty="0"/>
          </a:p>
          <a:p>
            <a:r>
              <a:rPr lang="en-CA" sz="2800" dirty="0" err="1"/>
              <a:t>Rdrv</a:t>
            </a:r>
            <a:r>
              <a:rPr lang="en-CA" sz="2800" dirty="0"/>
              <a:t> = 39</a:t>
            </a:r>
          </a:p>
          <a:p>
            <a:r>
              <a:rPr lang="en-CA" sz="2800" dirty="0" err="1"/>
              <a:t>Rrep</a:t>
            </a:r>
            <a:r>
              <a:rPr lang="en-CA" sz="2800" dirty="0"/>
              <a:t> = 273</a:t>
            </a:r>
          </a:p>
          <a:p>
            <a:r>
              <a:rPr lang="en-CA" sz="2800" dirty="0"/>
              <a:t>Rs = 22.5</a:t>
            </a:r>
          </a:p>
          <a:p>
            <a:r>
              <a:rPr lang="en-CA" sz="2800" dirty="0"/>
              <a:t>Rh1 = 190</a:t>
            </a:r>
          </a:p>
          <a:p>
            <a:r>
              <a:rPr lang="en-CA" sz="2800" dirty="0"/>
              <a:t>Rf = 1.2k</a:t>
            </a:r>
          </a:p>
          <a:p>
            <a:r>
              <a:rPr lang="en-CA" sz="2800" dirty="0" err="1">
                <a:solidFill>
                  <a:srgbClr val="FF0000"/>
                </a:solidFill>
              </a:rPr>
              <a:t>Rtia</a:t>
            </a:r>
            <a:r>
              <a:rPr lang="en-CA" sz="2800" dirty="0">
                <a:solidFill>
                  <a:srgbClr val="FF0000"/>
                </a:solidFill>
              </a:rPr>
              <a:t> = 677</a:t>
            </a:r>
          </a:p>
          <a:p>
            <a:r>
              <a:rPr lang="en-CA" sz="2800" dirty="0" err="1">
                <a:solidFill>
                  <a:srgbClr val="FF0000"/>
                </a:solidFill>
              </a:rPr>
              <a:t>Rch</a:t>
            </a:r>
            <a:r>
              <a:rPr lang="en-CA" sz="2800" dirty="0">
                <a:solidFill>
                  <a:srgbClr val="FF0000"/>
                </a:solidFill>
              </a:rPr>
              <a:t> = 0.9</a:t>
            </a:r>
          </a:p>
          <a:p>
            <a:r>
              <a:rPr lang="en-CA" sz="2800" dirty="0">
                <a:solidFill>
                  <a:srgbClr val="FF0000"/>
                </a:solidFill>
              </a:rPr>
              <a:t>Z0 = 50</a:t>
            </a:r>
          </a:p>
          <a:p>
            <a:endParaRPr lang="en-CA" sz="2800" dirty="0"/>
          </a:p>
          <a:p>
            <a:r>
              <a:rPr lang="en-CA" sz="2800" dirty="0">
                <a:solidFill>
                  <a:srgbClr val="FF0000"/>
                </a:solidFill>
              </a:rPr>
              <a:t>Rh2 = 207.4 (tuned)</a:t>
            </a:r>
          </a:p>
          <a:p>
            <a:r>
              <a:rPr lang="en-CA" sz="2800" dirty="0">
                <a:solidFill>
                  <a:srgbClr val="FF0000"/>
                </a:solidFill>
              </a:rPr>
              <a:t>Check:</a:t>
            </a:r>
          </a:p>
          <a:p>
            <a:r>
              <a:rPr lang="en-CA" sz="2800" dirty="0" err="1">
                <a:solidFill>
                  <a:srgbClr val="FF0000"/>
                </a:solidFill>
              </a:rPr>
              <a:t>Rtx</a:t>
            </a:r>
            <a:r>
              <a:rPr lang="en-CA" sz="2800" dirty="0">
                <a:solidFill>
                  <a:srgbClr val="FF0000"/>
                </a:solidFill>
              </a:rPr>
              <a:t> = 54 ≈ 50</a:t>
            </a:r>
          </a:p>
        </p:txBody>
      </p:sp>
    </p:spTree>
    <p:extLst>
      <p:ext uri="{BB962C8B-B14F-4D97-AF65-F5344CB8AC3E}">
        <p14:creationId xmlns:p14="http://schemas.microsoft.com/office/powerpoint/2010/main" val="1557059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7B5B645B-4EA3-E01C-1355-5DB407521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811" y="955331"/>
            <a:ext cx="5789159" cy="51439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4E45A1-45EA-E93F-FFFD-3D99C3D18DF0}"/>
              </a:ext>
            </a:extLst>
          </p:cNvPr>
          <p:cNvSpPr txBox="1"/>
          <p:nvPr/>
        </p:nvSpPr>
        <p:spPr>
          <a:xfrm>
            <a:off x="7006985" y="1484670"/>
            <a:ext cx="623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chemeClr val="bg1"/>
                </a:solidFill>
              </a:rPr>
              <a:t>Vdrv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284A1-5EF0-0EA0-22A0-4E9A75C82FA1}"/>
              </a:ext>
            </a:extLst>
          </p:cNvPr>
          <p:cNvSpPr txBox="1"/>
          <p:nvPr/>
        </p:nvSpPr>
        <p:spPr>
          <a:xfrm>
            <a:off x="7759152" y="2974257"/>
            <a:ext cx="64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chemeClr val="bg1"/>
                </a:solidFill>
              </a:rPr>
              <a:t>Vrep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65A66-13D3-7FA9-BDBB-A8C6F075F9FD}"/>
              </a:ext>
            </a:extLst>
          </p:cNvPr>
          <p:cNvSpPr txBox="1"/>
          <p:nvPr/>
        </p:nvSpPr>
        <p:spPr>
          <a:xfrm>
            <a:off x="9018655" y="2952533"/>
            <a:ext cx="49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chemeClr val="bg1"/>
                </a:solidFill>
              </a:rPr>
              <a:t>Vrx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3B3BAC-DC18-A306-CA4F-A2CEE21E47A9}"/>
              </a:ext>
            </a:extLst>
          </p:cNvPr>
          <p:cNvSpPr txBox="1"/>
          <p:nvPr/>
        </p:nvSpPr>
        <p:spPr>
          <a:xfrm>
            <a:off x="943898" y="2949817"/>
            <a:ext cx="2910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Other side is same, except stimulus voltage is 0</a:t>
            </a:r>
          </a:p>
        </p:txBody>
      </p:sp>
    </p:spTree>
    <p:extLst>
      <p:ext uri="{BB962C8B-B14F-4D97-AF65-F5344CB8AC3E}">
        <p14:creationId xmlns:p14="http://schemas.microsoft.com/office/powerpoint/2010/main" val="658410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7895D-9950-1AFB-711B-3101F4600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563"/>
            <a:ext cx="12192000" cy="4740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EB31A7-229A-BD80-E388-0D2E9CDA5559}"/>
              </a:ext>
            </a:extLst>
          </p:cNvPr>
          <p:cNvSpPr txBox="1"/>
          <p:nvPr/>
        </p:nvSpPr>
        <p:spPr>
          <a:xfrm>
            <a:off x="3342968" y="511277"/>
            <a:ext cx="6696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highlight>
                  <a:srgbClr val="FFFF00"/>
                </a:highlight>
              </a:rPr>
              <a:t>Vdrv</a:t>
            </a:r>
            <a:endParaRPr lang="en-CA" b="1" dirty="0">
              <a:highlight>
                <a:srgbClr val="FFFF00"/>
              </a:highlight>
            </a:endParaRPr>
          </a:p>
          <a:p>
            <a:r>
              <a:rPr lang="en-CA" b="1" dirty="0" err="1">
                <a:highlight>
                  <a:srgbClr val="FF0000"/>
                </a:highlight>
              </a:rPr>
              <a:t>Vrep</a:t>
            </a:r>
            <a:br>
              <a:rPr lang="en-CA" b="1" dirty="0"/>
            </a:br>
            <a:r>
              <a:rPr lang="en-CA" b="1" dirty="0" err="1">
                <a:highlight>
                  <a:srgbClr val="00FFFF"/>
                </a:highlight>
              </a:rPr>
              <a:t>Vrx</a:t>
            </a:r>
            <a:endParaRPr lang="en-CA" b="1" dirty="0">
              <a:highlight>
                <a:srgbClr val="00FFFF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93751-F2BD-4E10-B2B4-3E06A47E0872}"/>
              </a:ext>
            </a:extLst>
          </p:cNvPr>
          <p:cNvSpPr txBox="1"/>
          <p:nvPr/>
        </p:nvSpPr>
        <p:spPr>
          <a:xfrm>
            <a:off x="5643716" y="698090"/>
            <a:ext cx="324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Goal: </a:t>
            </a:r>
            <a:r>
              <a:rPr lang="en-CA" dirty="0" err="1"/>
              <a:t>Vrx</a:t>
            </a:r>
            <a:r>
              <a:rPr lang="en-CA" dirty="0"/>
              <a:t> = constant dc voltage</a:t>
            </a:r>
          </a:p>
        </p:txBody>
      </p:sp>
    </p:spTree>
    <p:extLst>
      <p:ext uri="{BB962C8B-B14F-4D97-AF65-F5344CB8AC3E}">
        <p14:creationId xmlns:p14="http://schemas.microsoft.com/office/powerpoint/2010/main" val="250304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CC305-725B-82F5-8CCF-EE5E0BFC5F89}"/>
              </a:ext>
            </a:extLst>
          </p:cNvPr>
          <p:cNvSpPr txBox="1"/>
          <p:nvPr/>
        </p:nvSpPr>
        <p:spPr>
          <a:xfrm>
            <a:off x="3519948" y="717755"/>
            <a:ext cx="3879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Now with stimulus from both sides:</a:t>
            </a:r>
          </a:p>
        </p:txBody>
      </p:sp>
    </p:spTree>
    <p:extLst>
      <p:ext uri="{BB962C8B-B14F-4D97-AF65-F5344CB8AC3E}">
        <p14:creationId xmlns:p14="http://schemas.microsoft.com/office/powerpoint/2010/main" val="585225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3036</TotalTime>
  <Words>235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63</cp:revision>
  <dcterms:created xsi:type="dcterms:W3CDTF">2025-10-31T01:17:47Z</dcterms:created>
  <dcterms:modified xsi:type="dcterms:W3CDTF">2025-11-05T17:46:48Z</dcterms:modified>
</cp:coreProperties>
</file>