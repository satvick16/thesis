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7FD93-7B35-EA03-6B3E-EB3DF9E68A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7E168-2D70-4B6B-3E95-0FEAC91CF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21765-D9FB-1DD8-9C6B-43F864847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EF3B8-C3A5-4231-8661-C3995DF7593A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68487-0A5B-ABEB-B51E-B1B36C768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0C6D4-C020-4C45-90E4-F2C93DE67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EBB1D-342A-4D4E-B206-7F2A5BB11C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5576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522DF-9A23-D789-A5E1-B90438BC5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C2DAF-9450-D35A-3776-82ECA7AEE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7C734-8B58-14E0-7E34-666AD758C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EF3B8-C3A5-4231-8661-C3995DF7593A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2C042-5040-9730-DAD3-D0C05FC27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CD1E9-D563-823F-8315-6143BE27F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EBB1D-342A-4D4E-B206-7F2A5BB11C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6106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F587A-BCFF-5395-289D-0D961D47C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57FD0-26A4-682D-75A0-07BE3F55C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02DB0-106E-3AD7-1A4D-4252CD93B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EF3B8-C3A5-4231-8661-C3995DF7593A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3AA9B-C45C-5B66-DAE4-9CC78D469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59033-F19E-5CD0-F489-919B919AE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EBB1D-342A-4D4E-B206-7F2A5BB11C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7582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1D26A-D24A-2FB4-72C8-53918419B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8FAA8-6BA7-B8F2-C8A1-8A649C722C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48F8F8-1EA9-84AC-0331-6FF8E439B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4CFDA-A96E-09B1-A330-CDF70BB12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EF3B8-C3A5-4231-8661-C3995DF7593A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DA8C0-771C-CA3F-75F8-740764665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69881-161F-3446-4CB7-13335CD62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EBB1D-342A-4D4E-B206-7F2A5BB11C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3257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135FA-A8FF-B604-1C18-66049E72C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97DF1-4170-728F-6BBE-A9ACBC943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182CA-A85D-8F7C-5859-19B7E2E51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7F0F6-5FDD-7FE8-DC0B-071A820FE4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3F98BF-92AD-2DDF-2F14-F410677A56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0BA704-C938-CA3F-9AAA-42C6FDCDC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EF3B8-C3A5-4231-8661-C3995DF7593A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BECC72-F880-40BC-9F62-9C8524891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785C20-B34F-831B-CC6F-20F67185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EBB1D-342A-4D4E-B206-7F2A5BB11C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2756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BE92D-D6B7-03FF-8665-02155BEFB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B3ABE6-F32F-3E9B-4331-89B78CEB4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EF3B8-C3A5-4231-8661-C3995DF7593A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FB454B-DB96-6445-C79C-3BEA24B6B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269E85-1FFB-D8D5-584F-98EB1690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EBB1D-342A-4D4E-B206-7F2A5BB11C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5930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C6A679-07A3-7F36-5A93-9FF557CC2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EF3B8-C3A5-4231-8661-C3995DF7593A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55A7EF-3515-7F23-69B7-6EF25D646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08889-DE31-818C-DCD7-FA195F4EF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EBB1D-342A-4D4E-B206-7F2A5BB11C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4693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73C05-A1D1-E71F-3403-9A6E9015A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6F1C4-F5A4-557F-8851-F8C1D84F7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68A65-BEC9-1793-2B28-CECAA0AE4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27B20-9945-FF35-3A6D-7DABF9995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EF3B8-C3A5-4231-8661-C3995DF7593A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325E2-D676-4B20-14E2-5357972B0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8E0C0-52B7-6661-30E6-52996D343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EBB1D-342A-4D4E-B206-7F2A5BB11C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4608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980BC-5E49-47BF-32A5-BB8C543D5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D5C416-48BD-6122-657E-5BD0B533E0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8D9E1-F700-D8D0-AB48-1E8EA8663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B3E34-B857-B1AC-EF2E-5D2CE019F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EF3B8-C3A5-4231-8661-C3995DF7593A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843FE-1EA1-03F7-68E7-2D66D2326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FBE5F2-4752-866A-B388-BA43DB3A2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EBB1D-342A-4D4E-B206-7F2A5BB11C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3575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96B9-80CC-3E2E-0CBC-E1FF74090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C35A80-A53A-3381-D469-4E59EBCC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E32BD-3EC1-12F8-E4F4-15E8598DA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EF3B8-C3A5-4231-8661-C3995DF7593A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2029A-7717-B843-1F72-BE34F2E06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7B89F-75FB-7984-4DFA-8C5FAA129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EBB1D-342A-4D4E-B206-7F2A5BB11C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903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095F7D-E6FB-F86C-5C1F-998B592AE2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AF2A6E-1993-ACDD-6146-6CBFD45FF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9DE5C-6F26-70B9-3010-8288955D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EF3B8-C3A5-4231-8661-C3995DF7593A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96B2B-1BF8-99AD-6996-F552AC6D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6C772-E4E8-ED75-ECCD-4E5AA1A54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EBB1D-342A-4D4E-B206-7F2A5BB11C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3588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8010F6-2781-18C4-269E-E3B9CCA4F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81B0C-B7D9-B9C0-C1D6-B833A72FA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48DD3-B456-CD3E-1DD0-9AE41E920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5EF3B8-C3A5-4231-8661-C3995DF7593A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3A7F5-4D7A-F423-5FBC-95B8C913F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1B049-5336-A720-FDB8-4C430315D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6EBB1D-342A-4D4E-B206-7F2A5BB11C2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9031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343F5-8255-2314-D041-22E5CF878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Nvidia paper NRZ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CEBF2-C248-B5AB-52D4-50C51FFC3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1451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153563-EF0F-FFC4-184C-C9A83AD0F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4217"/>
            <a:ext cx="12192000" cy="4383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2EE292-9978-5B6E-70A2-1A3BC01F7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933" y="196645"/>
            <a:ext cx="4232134" cy="20539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9E263F-9729-5E1D-49C4-68727E5B9024}"/>
              </a:ext>
            </a:extLst>
          </p:cNvPr>
          <p:cNvSpPr txBox="1"/>
          <p:nvPr/>
        </p:nvSpPr>
        <p:spPr>
          <a:xfrm>
            <a:off x="3021099" y="196645"/>
            <a:ext cx="726481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CA" b="1" dirty="0" err="1">
                <a:solidFill>
                  <a:schemeClr val="accent4"/>
                </a:solidFill>
              </a:rPr>
              <a:t>vin_a</a:t>
            </a:r>
            <a:endParaRPr lang="en-CA" b="1" dirty="0">
              <a:solidFill>
                <a:schemeClr val="accent4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51CE7-8DD3-0FB1-346B-360E9DF8033B}"/>
              </a:ext>
            </a:extLst>
          </p:cNvPr>
          <p:cNvSpPr txBox="1"/>
          <p:nvPr/>
        </p:nvSpPr>
        <p:spPr>
          <a:xfrm>
            <a:off x="3384340" y="1808396"/>
            <a:ext cx="878126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CA" b="1" dirty="0" err="1">
                <a:solidFill>
                  <a:schemeClr val="accent6"/>
                </a:solidFill>
              </a:rPr>
              <a:t>vout_a</a:t>
            </a:r>
            <a:endParaRPr lang="en-CA" b="1" dirty="0">
              <a:solidFill>
                <a:schemeClr val="accent6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91B769D-49B4-0591-5390-1B2D0336FA97}"/>
              </a:ext>
            </a:extLst>
          </p:cNvPr>
          <p:cNvCxnSpPr>
            <a:stCxn id="8" idx="3"/>
          </p:cNvCxnSpPr>
          <p:nvPr/>
        </p:nvCxnSpPr>
        <p:spPr>
          <a:xfrm>
            <a:off x="3747580" y="381311"/>
            <a:ext cx="932575" cy="1889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E37B093-7773-019A-FB77-2CA0FE0A94BF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730554" y="381311"/>
            <a:ext cx="2290545" cy="267652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CFD129-CEDB-FA09-F0A2-B9C4C008FFA3}"/>
              </a:ext>
            </a:extLst>
          </p:cNvPr>
          <p:cNvCxnSpPr>
            <a:stCxn id="9" idx="3"/>
          </p:cNvCxnSpPr>
          <p:nvPr/>
        </p:nvCxnSpPr>
        <p:spPr>
          <a:xfrm>
            <a:off x="4262466" y="1993062"/>
            <a:ext cx="417689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BBABD50-8D00-4D19-44DF-1D654A653E1E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766916" y="1993062"/>
            <a:ext cx="2617424" cy="281491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9306600-A54D-24B2-B059-22AB4372C031}"/>
              </a:ext>
            </a:extLst>
          </p:cNvPr>
          <p:cNvSpPr/>
          <p:nvPr/>
        </p:nvSpPr>
        <p:spPr>
          <a:xfrm>
            <a:off x="6253316" y="1061884"/>
            <a:ext cx="1946787" cy="11995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Arrow: Up-Down 24">
            <a:extLst>
              <a:ext uri="{FF2B5EF4-FFF2-40B4-BE49-F238E27FC236}">
                <a16:creationId xmlns:a16="http://schemas.microsoft.com/office/drawing/2014/main" id="{827F57CD-1AEE-EB71-2D03-6B74F5626CCC}"/>
              </a:ext>
            </a:extLst>
          </p:cNvPr>
          <p:cNvSpPr/>
          <p:nvPr/>
        </p:nvSpPr>
        <p:spPr>
          <a:xfrm>
            <a:off x="4861170" y="3755923"/>
            <a:ext cx="373625" cy="2104102"/>
          </a:xfrm>
          <a:prstGeom prst="up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Arrow: Up-Down 25">
            <a:extLst>
              <a:ext uri="{FF2B5EF4-FFF2-40B4-BE49-F238E27FC236}">
                <a16:creationId xmlns:a16="http://schemas.microsoft.com/office/drawing/2014/main" id="{3DF50D59-6721-FE0E-2224-213B4E83CD6D}"/>
              </a:ext>
            </a:extLst>
          </p:cNvPr>
          <p:cNvSpPr/>
          <p:nvPr/>
        </p:nvSpPr>
        <p:spPr>
          <a:xfrm>
            <a:off x="3467732" y="4621161"/>
            <a:ext cx="373625" cy="715373"/>
          </a:xfrm>
          <a:prstGeom prst="up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3FD9F2-DE1F-B7F9-7477-97C7051DDDB8}"/>
              </a:ext>
            </a:extLst>
          </p:cNvPr>
          <p:cNvSpPr txBox="1"/>
          <p:nvPr/>
        </p:nvSpPr>
        <p:spPr>
          <a:xfrm>
            <a:off x="8366597" y="792733"/>
            <a:ext cx="28133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/>
              <a:t>vin_a</a:t>
            </a:r>
            <a:r>
              <a:rPr lang="en-CA" dirty="0"/>
              <a:t> == </a:t>
            </a:r>
            <a:r>
              <a:rPr lang="en-CA" dirty="0" err="1"/>
              <a:t>vout_b</a:t>
            </a:r>
            <a:endParaRPr lang="en-CA" dirty="0"/>
          </a:p>
          <a:p>
            <a:r>
              <a:rPr lang="en-CA" dirty="0" err="1"/>
              <a:t>vin_b</a:t>
            </a:r>
            <a:r>
              <a:rPr lang="en-CA" dirty="0"/>
              <a:t> == </a:t>
            </a:r>
            <a:r>
              <a:rPr lang="en-CA" dirty="0" err="1"/>
              <a:t>vout_a</a:t>
            </a:r>
            <a:endParaRPr lang="en-CA" dirty="0"/>
          </a:p>
          <a:p>
            <a:endParaRPr lang="en-CA" dirty="0"/>
          </a:p>
          <a:p>
            <a:r>
              <a:rPr lang="en-CA" dirty="0"/>
              <a:t> with 3.77ns channel delay</a:t>
            </a:r>
          </a:p>
        </p:txBody>
      </p:sp>
    </p:spTree>
    <p:extLst>
      <p:ext uri="{BB962C8B-B14F-4D97-AF65-F5344CB8AC3E}">
        <p14:creationId xmlns:p14="http://schemas.microsoft.com/office/powerpoint/2010/main" val="3565924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3F5D06-7E47-2D09-DCE3-B009B76DE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3277"/>
            <a:ext cx="12192000" cy="43647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64235E-1642-ACBD-0250-441754EBA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933" y="196645"/>
            <a:ext cx="4232134" cy="20539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B7405C-B858-B42F-6A0F-595CDC84A6FD}"/>
              </a:ext>
            </a:extLst>
          </p:cNvPr>
          <p:cNvSpPr txBox="1"/>
          <p:nvPr/>
        </p:nvSpPr>
        <p:spPr>
          <a:xfrm>
            <a:off x="3021099" y="196645"/>
            <a:ext cx="726481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CA" b="1" dirty="0" err="1">
                <a:solidFill>
                  <a:srgbClr val="FF0000"/>
                </a:solidFill>
              </a:rPr>
              <a:t>vin_a</a:t>
            </a:r>
            <a:endParaRPr lang="en-CA" b="1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2D31A3-A8CD-EE98-9751-E0A5A26EAF5F}"/>
              </a:ext>
            </a:extLst>
          </p:cNvPr>
          <p:cNvCxnSpPr>
            <a:stCxn id="5" idx="3"/>
          </p:cNvCxnSpPr>
          <p:nvPr/>
        </p:nvCxnSpPr>
        <p:spPr>
          <a:xfrm>
            <a:off x="3747580" y="381311"/>
            <a:ext cx="932575" cy="1889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83B579-E791-2598-C364-C866E7A4CB94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730554" y="381311"/>
            <a:ext cx="2290545" cy="267652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87D3EC-5AC3-5B36-4F25-84AAC31BEC69}"/>
              </a:ext>
            </a:extLst>
          </p:cNvPr>
          <p:cNvCxnSpPr>
            <a:stCxn id="6" idx="3"/>
          </p:cNvCxnSpPr>
          <p:nvPr/>
        </p:nvCxnSpPr>
        <p:spPr>
          <a:xfrm>
            <a:off x="8044918" y="1693295"/>
            <a:ext cx="1469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B12CDF9-4FA4-ED5E-5357-4000F1EF08CF}"/>
              </a:ext>
            </a:extLst>
          </p:cNvPr>
          <p:cNvSpPr/>
          <p:nvPr/>
        </p:nvSpPr>
        <p:spPr>
          <a:xfrm>
            <a:off x="6253316" y="1061884"/>
            <a:ext cx="1946787" cy="11995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521244C-B5BB-D998-3CFD-A0474F5C9428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1170039" y="1877961"/>
            <a:ext cx="6234319" cy="289068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B686956-4FBB-780E-3E96-CDF585D30510}"/>
              </a:ext>
            </a:extLst>
          </p:cNvPr>
          <p:cNvSpPr txBox="1"/>
          <p:nvPr/>
        </p:nvSpPr>
        <p:spPr>
          <a:xfrm>
            <a:off x="6763798" y="1508629"/>
            <a:ext cx="1281120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CA" b="1" dirty="0" err="1">
                <a:solidFill>
                  <a:schemeClr val="accent5"/>
                </a:solidFill>
              </a:rPr>
              <a:t>curr_TIA_a</a:t>
            </a:r>
            <a:endParaRPr lang="en-CA" b="1" dirty="0">
              <a:solidFill>
                <a:schemeClr val="accent5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C0E43E1-30C6-51F0-603F-4ABF3DFAA506}"/>
              </a:ext>
            </a:extLst>
          </p:cNvPr>
          <p:cNvCxnSpPr>
            <a:stCxn id="6" idx="1"/>
          </p:cNvCxnSpPr>
          <p:nvPr/>
        </p:nvCxnSpPr>
        <p:spPr>
          <a:xfrm flipH="1">
            <a:off x="6096000" y="1693295"/>
            <a:ext cx="667798" cy="2436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463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1C8C9-69D2-E86B-6C97-66082EFA0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Nvidia paper PAM3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C8B82-BD5E-09AD-E6D6-513A5CB6D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7006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87062F-73F4-4BDF-555B-C46DB84C2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043" y="223992"/>
            <a:ext cx="3531914" cy="17140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C02C76-32EA-F62E-7C10-47A55AEB4021}"/>
              </a:ext>
            </a:extLst>
          </p:cNvPr>
          <p:cNvSpPr txBox="1"/>
          <p:nvPr/>
        </p:nvSpPr>
        <p:spPr>
          <a:xfrm>
            <a:off x="3021099" y="196645"/>
            <a:ext cx="726481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CA" b="1" dirty="0" err="1">
                <a:solidFill>
                  <a:schemeClr val="accent4"/>
                </a:solidFill>
              </a:rPr>
              <a:t>vin_a</a:t>
            </a:r>
            <a:endParaRPr lang="en-CA" b="1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BD9FDE-11A7-6147-6A34-7B108A56DEC0}"/>
              </a:ext>
            </a:extLst>
          </p:cNvPr>
          <p:cNvSpPr txBox="1"/>
          <p:nvPr/>
        </p:nvSpPr>
        <p:spPr>
          <a:xfrm>
            <a:off x="3467732" y="1537832"/>
            <a:ext cx="878126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CA" b="1" dirty="0" err="1">
                <a:solidFill>
                  <a:schemeClr val="accent6"/>
                </a:solidFill>
              </a:rPr>
              <a:t>vout_a</a:t>
            </a:r>
            <a:endParaRPr lang="en-CA" b="1" dirty="0">
              <a:solidFill>
                <a:schemeClr val="accent6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2A6092F-88BA-4773-017D-9B8E97654ED6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747580" y="381311"/>
            <a:ext cx="1109555" cy="9063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C53C852-4B7D-22BD-1715-1D11BCE3EA38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914400" y="381311"/>
            <a:ext cx="2106699" cy="266668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C9574BA-5573-9594-48D4-8E05BDCF811D}"/>
              </a:ext>
            </a:extLst>
          </p:cNvPr>
          <p:cNvCxnSpPr>
            <a:stCxn id="6" idx="3"/>
          </p:cNvCxnSpPr>
          <p:nvPr/>
        </p:nvCxnSpPr>
        <p:spPr>
          <a:xfrm>
            <a:off x="4345858" y="1722498"/>
            <a:ext cx="417689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6149860-9554-C8C1-A4A1-936C94BABDD1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1012069" y="1722498"/>
            <a:ext cx="2455663" cy="301665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Arrow: Up-Down 10">
            <a:extLst>
              <a:ext uri="{FF2B5EF4-FFF2-40B4-BE49-F238E27FC236}">
                <a16:creationId xmlns:a16="http://schemas.microsoft.com/office/drawing/2014/main" id="{D63675C6-643F-7DB5-CFFC-14E9C91EBF26}"/>
              </a:ext>
            </a:extLst>
          </p:cNvPr>
          <p:cNvSpPr/>
          <p:nvPr/>
        </p:nvSpPr>
        <p:spPr>
          <a:xfrm>
            <a:off x="5543539" y="4084387"/>
            <a:ext cx="373625" cy="654761"/>
          </a:xfrm>
          <a:prstGeom prst="up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Arrow: Up-Down 11">
            <a:extLst>
              <a:ext uri="{FF2B5EF4-FFF2-40B4-BE49-F238E27FC236}">
                <a16:creationId xmlns:a16="http://schemas.microsoft.com/office/drawing/2014/main" id="{02F7F1F6-1785-2058-CC9D-15D08B5F180E}"/>
              </a:ext>
            </a:extLst>
          </p:cNvPr>
          <p:cNvSpPr/>
          <p:nvPr/>
        </p:nvSpPr>
        <p:spPr>
          <a:xfrm>
            <a:off x="3094107" y="3063686"/>
            <a:ext cx="373625" cy="3016650"/>
          </a:xfrm>
          <a:prstGeom prst="up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74AA5-E7F5-90B8-6539-813E46A838CF}"/>
              </a:ext>
            </a:extLst>
          </p:cNvPr>
          <p:cNvSpPr txBox="1"/>
          <p:nvPr/>
        </p:nvSpPr>
        <p:spPr>
          <a:xfrm>
            <a:off x="8366597" y="792733"/>
            <a:ext cx="28133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/>
              <a:t>vin_a</a:t>
            </a:r>
            <a:r>
              <a:rPr lang="en-CA" dirty="0"/>
              <a:t> == </a:t>
            </a:r>
            <a:r>
              <a:rPr lang="en-CA" dirty="0" err="1"/>
              <a:t>vout_b</a:t>
            </a:r>
            <a:endParaRPr lang="en-CA" dirty="0"/>
          </a:p>
          <a:p>
            <a:r>
              <a:rPr lang="en-CA" dirty="0" err="1"/>
              <a:t>vin_b</a:t>
            </a:r>
            <a:r>
              <a:rPr lang="en-CA" dirty="0"/>
              <a:t> == </a:t>
            </a:r>
            <a:r>
              <a:rPr lang="en-CA" dirty="0" err="1"/>
              <a:t>vout_a</a:t>
            </a:r>
            <a:endParaRPr lang="en-CA" dirty="0"/>
          </a:p>
          <a:p>
            <a:endParaRPr lang="en-CA" dirty="0"/>
          </a:p>
          <a:p>
            <a:r>
              <a:rPr lang="en-CA" dirty="0"/>
              <a:t> with 3.77ns channel delay</a:t>
            </a:r>
          </a:p>
        </p:txBody>
      </p:sp>
    </p:spTree>
    <p:extLst>
      <p:ext uri="{BB962C8B-B14F-4D97-AF65-F5344CB8AC3E}">
        <p14:creationId xmlns:p14="http://schemas.microsoft.com/office/powerpoint/2010/main" val="3834291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F010038-1044-538E-DDB8-E6E19555B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036" y="196645"/>
            <a:ext cx="3585927" cy="17403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E544520-BA0A-3BB7-3934-6E515856C701}"/>
              </a:ext>
            </a:extLst>
          </p:cNvPr>
          <p:cNvSpPr txBox="1"/>
          <p:nvPr/>
        </p:nvSpPr>
        <p:spPr>
          <a:xfrm>
            <a:off x="3021099" y="196645"/>
            <a:ext cx="726481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CA" b="1" dirty="0" err="1">
                <a:solidFill>
                  <a:srgbClr val="FF0000"/>
                </a:solidFill>
              </a:rPr>
              <a:t>vin_a</a:t>
            </a:r>
            <a:endParaRPr lang="en-CA" b="1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7934B94-DAF6-12EB-1165-36CBDE963276}"/>
              </a:ext>
            </a:extLst>
          </p:cNvPr>
          <p:cNvCxnSpPr>
            <a:stCxn id="11" idx="3"/>
          </p:cNvCxnSpPr>
          <p:nvPr/>
        </p:nvCxnSpPr>
        <p:spPr>
          <a:xfrm>
            <a:off x="3747580" y="381311"/>
            <a:ext cx="932575" cy="1889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5565B2-A764-B442-7B14-0F4B7695C8F7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1025844" y="381311"/>
            <a:ext cx="1995255" cy="261752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87FD1DF-AB72-471C-2510-397CBF77CF05}"/>
              </a:ext>
            </a:extLst>
          </p:cNvPr>
          <p:cNvSpPr/>
          <p:nvPr/>
        </p:nvSpPr>
        <p:spPr>
          <a:xfrm>
            <a:off x="6233652" y="833083"/>
            <a:ext cx="1995255" cy="11995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80A7CA-37FD-789D-3883-2AD5D8425AEA}"/>
              </a:ext>
            </a:extLst>
          </p:cNvPr>
          <p:cNvSpPr txBox="1"/>
          <p:nvPr/>
        </p:nvSpPr>
        <p:spPr>
          <a:xfrm>
            <a:off x="6763798" y="1508629"/>
            <a:ext cx="1281120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CA" b="1" dirty="0" err="1">
                <a:solidFill>
                  <a:schemeClr val="accent5"/>
                </a:solidFill>
              </a:rPr>
              <a:t>curr_TIA_a</a:t>
            </a:r>
            <a:endParaRPr lang="en-CA" b="1" dirty="0">
              <a:solidFill>
                <a:schemeClr val="accent5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80F8E2A-63D8-1B52-84B6-307BC87CF1CC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6096000" y="1567623"/>
            <a:ext cx="667798" cy="12567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F4590E6-7182-6FFC-4D71-4C4F6BD1948C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1170039" y="1877961"/>
            <a:ext cx="6234319" cy="289068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23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F7AA4-9F09-630A-133A-6225E20E9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/>
              <a:t>Problem from last time (Tx FIR equalization)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C7AB0F-E2FC-9E74-28A5-685D93B03D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90" b="61647"/>
          <a:stretch>
            <a:fillRect/>
          </a:stretch>
        </p:blipFill>
        <p:spPr>
          <a:xfrm>
            <a:off x="634354" y="2158087"/>
            <a:ext cx="10923291" cy="254182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06B40C5-4388-9DAD-75AF-A8719C7F96AE}"/>
              </a:ext>
            </a:extLst>
          </p:cNvPr>
          <p:cNvSpPr/>
          <p:nvPr/>
        </p:nvSpPr>
        <p:spPr>
          <a:xfrm>
            <a:off x="2404253" y="4226119"/>
            <a:ext cx="265471" cy="2163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D908941-3952-1F82-294C-5EDC1D99DDED}"/>
              </a:ext>
            </a:extLst>
          </p:cNvPr>
          <p:cNvSpPr/>
          <p:nvPr/>
        </p:nvSpPr>
        <p:spPr>
          <a:xfrm>
            <a:off x="3174958" y="3699259"/>
            <a:ext cx="265471" cy="2163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208D248-BD8D-0E85-2D47-083ECB489DA2}"/>
              </a:ext>
            </a:extLst>
          </p:cNvPr>
          <p:cNvSpPr/>
          <p:nvPr/>
        </p:nvSpPr>
        <p:spPr>
          <a:xfrm>
            <a:off x="4174152" y="4226119"/>
            <a:ext cx="265471" cy="2163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AAA221C-7EFE-8229-30B0-C200FD13BAD9}"/>
              </a:ext>
            </a:extLst>
          </p:cNvPr>
          <p:cNvSpPr/>
          <p:nvPr/>
        </p:nvSpPr>
        <p:spPr>
          <a:xfrm>
            <a:off x="5476927" y="3591104"/>
            <a:ext cx="265471" cy="2163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D3A8E5F-C8F1-0EA8-3E08-0DB418C04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673" y="5090651"/>
            <a:ext cx="6115904" cy="8097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DB0863F-9348-0873-78E2-0C4C0E45E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543" y="6057710"/>
            <a:ext cx="5306165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62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A44ED-6D55-2225-CDCD-B46208EDF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25987"/>
            <a:ext cx="5157787" cy="82391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30-Gb/s 1.11-pJ/bit Single-Ended PAM-3 Transceiver for High-Speed Memory Links (</a:t>
            </a:r>
            <a:r>
              <a:rPr lang="en-US" dirty="0">
                <a:solidFill>
                  <a:srgbClr val="FF0000"/>
                </a:solidFill>
              </a:rPr>
              <a:t>JSSC 2021</a:t>
            </a:r>
            <a:r>
              <a:rPr lang="en-US" dirty="0"/>
              <a:t>)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8931B3-64CD-73B2-8DBF-BA73CF22D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049899"/>
            <a:ext cx="5157787" cy="5582114"/>
          </a:xfrm>
        </p:spPr>
        <p:txBody>
          <a:bodyPr>
            <a:normAutofit fontScale="62500" lnSpcReduction="20000"/>
          </a:bodyPr>
          <a:lstStyle/>
          <a:p>
            <a:r>
              <a:rPr lang="en-CA" dirty="0"/>
              <a:t>Driver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Equalization</a:t>
            </a:r>
          </a:p>
          <a:p>
            <a:pPr lvl="1"/>
            <a:r>
              <a:rPr lang="en-CA" dirty="0"/>
              <a:t>Tx: N/A</a:t>
            </a:r>
          </a:p>
          <a:p>
            <a:pPr lvl="1"/>
            <a:r>
              <a:rPr lang="en-CA" dirty="0"/>
              <a:t>Rx: DFE + CTLE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5E01E1-22E3-5A5F-E2CF-20432183B9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25987"/>
            <a:ext cx="5183188" cy="82391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 0.275pJ/b 42Gb/s/pin Clock-Referenced PAM3 Transceiver Tolerant to Supply Noise, Reference Offset and Crosstalk for Chiplets and Short-Reach Memory Interfaces (</a:t>
            </a:r>
            <a:r>
              <a:rPr lang="en-US" dirty="0">
                <a:solidFill>
                  <a:srgbClr val="FF0000"/>
                </a:solidFill>
              </a:rPr>
              <a:t>ISSCC 2025</a:t>
            </a:r>
            <a:r>
              <a:rPr lang="en-US" dirty="0"/>
              <a:t>)</a:t>
            </a:r>
            <a:endParaRPr lang="en-CA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DF904D-E645-E1D3-F911-8B7099ABAD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049899"/>
            <a:ext cx="5183188" cy="5582114"/>
          </a:xfrm>
        </p:spPr>
        <p:txBody>
          <a:bodyPr>
            <a:normAutofit fontScale="62500" lnSpcReduction="20000"/>
          </a:bodyPr>
          <a:lstStyle/>
          <a:p>
            <a:r>
              <a:rPr lang="en-CA" dirty="0"/>
              <a:t>Clock-referenced PAM3</a:t>
            </a:r>
          </a:p>
          <a:p>
            <a:pPr lvl="1"/>
            <a:r>
              <a:rPr lang="en-CA" dirty="0"/>
              <a:t>Transmitter: </a:t>
            </a:r>
            <a:r>
              <a:rPr lang="en-CA" dirty="0" err="1"/>
              <a:t>a_k</a:t>
            </a:r>
            <a:r>
              <a:rPr lang="en-CA" dirty="0"/>
              <a:t> = {-A, 0, A}</a:t>
            </a:r>
          </a:p>
          <a:p>
            <a:pPr lvl="2"/>
            <a:r>
              <a:rPr lang="en-CA" dirty="0"/>
              <a:t>D(t) = </a:t>
            </a:r>
            <a:r>
              <a:rPr lang="en-CA" dirty="0" err="1"/>
              <a:t>a_k</a:t>
            </a:r>
            <a:r>
              <a:rPr lang="en-CA" dirty="0"/>
              <a:t> + n(t)</a:t>
            </a:r>
          </a:p>
          <a:p>
            <a:pPr lvl="2"/>
            <a:r>
              <a:rPr lang="en-CA" dirty="0" err="1"/>
              <a:t>CLK_p</a:t>
            </a:r>
            <a:r>
              <a:rPr lang="en-CA" dirty="0"/>
              <a:t>(t) = +A + n(t)</a:t>
            </a:r>
          </a:p>
          <a:p>
            <a:pPr lvl="2"/>
            <a:r>
              <a:rPr lang="en-CA" dirty="0" err="1"/>
              <a:t>CLK_n</a:t>
            </a:r>
            <a:r>
              <a:rPr lang="en-CA" dirty="0"/>
              <a:t>(t) = -A + n(t)</a:t>
            </a:r>
          </a:p>
          <a:p>
            <a:pPr lvl="1"/>
            <a:r>
              <a:rPr lang="en-CA" dirty="0"/>
              <a:t>Receiver: n(t) gets cancelled</a:t>
            </a:r>
          </a:p>
          <a:p>
            <a:pPr lvl="2"/>
            <a:r>
              <a:rPr lang="en-CA" dirty="0" err="1"/>
              <a:t>y_p</a:t>
            </a:r>
            <a:r>
              <a:rPr lang="en-CA" dirty="0"/>
              <a:t>(t) = D(t) – </a:t>
            </a:r>
            <a:r>
              <a:rPr lang="en-CA" dirty="0" err="1"/>
              <a:t>CLK_p</a:t>
            </a:r>
            <a:r>
              <a:rPr lang="en-CA" dirty="0"/>
              <a:t>(t) = </a:t>
            </a:r>
            <a:r>
              <a:rPr lang="en-CA" dirty="0" err="1"/>
              <a:t>a_k</a:t>
            </a:r>
            <a:r>
              <a:rPr lang="en-CA" dirty="0"/>
              <a:t> - A</a:t>
            </a:r>
          </a:p>
          <a:p>
            <a:pPr lvl="2"/>
            <a:r>
              <a:rPr lang="en-CA" dirty="0" err="1"/>
              <a:t>y_n</a:t>
            </a:r>
            <a:r>
              <a:rPr lang="en-CA" dirty="0"/>
              <a:t>(t) = D(t) – </a:t>
            </a:r>
            <a:r>
              <a:rPr lang="en-CA" dirty="0" err="1"/>
              <a:t>CLK_n</a:t>
            </a:r>
            <a:r>
              <a:rPr lang="en-CA" dirty="0"/>
              <a:t>(t) = </a:t>
            </a:r>
            <a:r>
              <a:rPr lang="en-CA" dirty="0" err="1"/>
              <a:t>a_k</a:t>
            </a:r>
            <a:r>
              <a:rPr lang="en-CA" dirty="0"/>
              <a:t> + A</a:t>
            </a:r>
          </a:p>
          <a:p>
            <a:r>
              <a:rPr lang="en-CA" dirty="0"/>
              <a:t>Driver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Equalization</a:t>
            </a:r>
          </a:p>
          <a:p>
            <a:pPr lvl="1"/>
            <a:r>
              <a:rPr lang="en-CA" dirty="0"/>
              <a:t>Tx: capacitive-peaking + implicit equalization from FS-puller</a:t>
            </a:r>
          </a:p>
          <a:p>
            <a:pPr lvl="1"/>
            <a:r>
              <a:rPr lang="en-CA" dirty="0"/>
              <a:t>Rx: DFE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39B6AF-0E52-6E52-D1AD-721E7CF75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267" y="1463125"/>
            <a:ext cx="4823153" cy="3768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D20598-A478-8931-586F-1B36276F5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824" y="3124202"/>
            <a:ext cx="5183189" cy="210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987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266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Nvidia paper NRZ</vt:lpstr>
      <vt:lpstr>PowerPoint Presentation</vt:lpstr>
      <vt:lpstr>PowerPoint Presentation</vt:lpstr>
      <vt:lpstr>Nvidia paper PAM3</vt:lpstr>
      <vt:lpstr>PowerPoint Presentation</vt:lpstr>
      <vt:lpstr>PowerPoint Presentation</vt:lpstr>
      <vt:lpstr>Problem from last time (Tx FIR equalization)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Satvick Acharya</dc:creator>
  <cp:lastModifiedBy>Satvick Acharya</cp:lastModifiedBy>
  <cp:revision>27</cp:revision>
  <dcterms:created xsi:type="dcterms:W3CDTF">2026-01-14T13:25:35Z</dcterms:created>
  <dcterms:modified xsi:type="dcterms:W3CDTF">2026-01-15T18:47:13Z</dcterms:modified>
</cp:coreProperties>
</file>